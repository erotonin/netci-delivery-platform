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EE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822960"/>
            <a:ext cx="4114800" cy="411480"/>
          </a:xfrm>
          <a:prstGeom prst="roundRect">
            <a:avLst/>
          </a:prstGeom>
          <a:solidFill>
            <a:srgbClr val="1E293B"/>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VIETTEL DIGITAL TALENT 2026 | VTNET</a:t>
            </a:r>
          </a:p>
        </p:txBody>
      </p:sp>
      <p:sp>
        <p:nvSpPr>
          <p:cNvPr id="5" name="TextBox 4"/>
          <p:cNvSpPr txBox="1"/>
          <p:nvPr/>
        </p:nvSpPr>
        <p:spPr>
          <a:xfrm>
            <a:off x="1097280" y="1463040"/>
            <a:ext cx="10058400" cy="2194560"/>
          </a:xfrm>
          <a:prstGeom prst="rect">
            <a:avLst/>
          </a:prstGeom>
          <a:noFill/>
        </p:spPr>
        <p:txBody>
          <a:bodyPr wrap="square">
            <a:spAutoFit/>
          </a:bodyPr>
          <a:lstStyle/>
          <a:p>
            <a:pPr>
              <a:defRPr sz="3400" b="1">
                <a:solidFill>
                  <a:srgbClr val="FFFFFF"/>
                </a:solidFill>
                <a:latin typeface="Arial"/>
              </a:defRPr>
            </a:pPr>
            <a:r>
              <a:t>BÁO CÁO ĐỀ TÀI: NỀN TẢNG PHÂN PHỐI PHẦN MỀM TỰ ĐỘNG (netCI PLATFORM)</a:t>
            </a:r>
          </a:p>
          <a:p>
            <a:pPr>
              <a:spcBef>
                <a:spcPts val="1000"/>
              </a:spcBef>
              <a:defRPr sz="1900">
                <a:solidFill>
                  <a:srgbClr val="E2E8F0"/>
                </a:solidFill>
                <a:latin typeface="Arial"/>
              </a:defRPr>
            </a:pPr>
            <a:r>
              <a:t>Chuẩn Hóa Đa Hạ Tầng, Bảo Mật Chuỗi Cung Ứng SLSA v1 &amp; Tối Ưu Tài Nguyên CI/CD</a:t>
            </a:r>
          </a:p>
        </p:txBody>
      </p:sp>
      <p:sp>
        <p:nvSpPr>
          <p:cNvPr id="6" name="Rounded Rectangle 5"/>
          <p:cNvSpPr/>
          <p:nvPr/>
        </p:nvSpPr>
        <p:spPr>
          <a:xfrm>
            <a:off x="1097280" y="3931920"/>
            <a:ext cx="996696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bIns="182880"/>
          <a:lstStyle/>
          <a:p>
            <a:pPr algn="ctr">
              <a:defRPr sz="1300" b="1">
                <a:solidFill>
                  <a:srgbClr val="EE0033"/>
                </a:solidFill>
                <a:latin typeface="Arial"/>
              </a:defRPr>
            </a:pPr>
            <a:r>
              <a:t>THÔNG TIN BÁO CÁO BẢO VỆ ĐỀ TÀI</a:t>
            </a:r>
          </a:p>
          <a:p>
            <a:pPr>
              <a:spcBef>
                <a:spcPts val="600"/>
              </a:spcBef>
              <a:defRPr sz="1200">
                <a:solidFill>
                  <a:srgbClr val="CBD5E1"/>
                </a:solidFill>
                <a:latin typeface="Arial"/>
              </a:defRPr>
            </a:pPr>
            <a:r>
              <a:t>• Đơn vị công tác: Tổng Công ty Mạng lưới Viettel (VTNet)</a:t>
            </a:r>
            <a:br/>
            <a:r>
              <a:t>• Giảng viên / Mentor hướng dẫn: Anh Thế Anh Nguyễn | Anh Trung</a:t>
            </a:r>
            <a:br/>
            <a:r>
              <a:t>• Học viên báo cáo: Nhóm Thực tập sinh Viettel Digital Talent 2026</a:t>
            </a:r>
            <a:br/>
            <a:r>
              <a:t>• Kiểm chứng mã nguồn: 32 Database Migrations | 12 Frontend Test Suites (60 Tests) | 100% Fail-Closed Invariants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MỤC LỤC CHƯƠNG TRÌNH</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NỘI DUNG BÁO CÁO TỔNG QUAN</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02 / 30</a:t>
            </a:r>
          </a:p>
        </p:txBody>
      </p:sp>
      <p:sp>
        <p:nvSpPr>
          <p:cNvPr id="8" name="Rounded Rectangle 7"/>
          <p:cNvSpPr/>
          <p:nvPr/>
        </p:nvSpPr>
        <p:spPr>
          <a:xfrm>
            <a:off x="731520" y="1645920"/>
            <a:ext cx="256032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PHẦN 1</a:t>
            </a:r>
          </a:p>
          <a:p>
            <a:pPr>
              <a:spcBef>
                <a:spcPts val="600"/>
              </a:spcBef>
              <a:defRPr sz="1300" b="1">
                <a:solidFill>
                  <a:srgbClr val="0F172A"/>
                </a:solidFill>
                <a:latin typeface="Arial"/>
              </a:defRPr>
            </a:pPr>
            <a:r>
              <a:t>SỨ MỆNH &amp; MỤC TIÊU ĐỀ TÀI</a:t>
            </a:r>
          </a:p>
          <a:p>
            <a:pPr>
              <a:spcBef>
                <a:spcPts val="1200"/>
              </a:spcBef>
              <a:defRPr sz="1100">
                <a:solidFill>
                  <a:srgbClr val="1E293B"/>
                </a:solidFill>
                <a:latin typeface="Arial"/>
              </a:defRPr>
            </a:pPr>
            <a:r>
              <a:t>• Bối cảnh chuyển đổi số tại VTNet</a:t>
            </a:r>
            <a:br/>
            <a:r>
              <a:t>• Hiện trạng 4 'nỗi đau' lớn trong Delivery</a:t>
            </a:r>
            <a:br/>
            <a:r>
              <a:t>• Bùng nổ mã nguồn do AI (AI PR Storm)</a:t>
            </a:r>
            <a:br/>
            <a:r>
              <a:t>• Mục tiêu &amp; Cam kết của netCI Platform</a:t>
            </a:r>
          </a:p>
        </p:txBody>
      </p:sp>
      <p:sp>
        <p:nvSpPr>
          <p:cNvPr id="9" name="Rounded Rectangle 8"/>
          <p:cNvSpPr/>
          <p:nvPr/>
        </p:nvSpPr>
        <p:spPr>
          <a:xfrm>
            <a:off x="3429000" y="1645920"/>
            <a:ext cx="256032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PHẦN 2</a:t>
            </a:r>
          </a:p>
          <a:p>
            <a:pPr>
              <a:spcBef>
                <a:spcPts val="600"/>
              </a:spcBef>
              <a:defRPr sz="1300" b="1">
                <a:solidFill>
                  <a:srgbClr val="0F172A"/>
                </a:solidFill>
                <a:latin typeface="Arial"/>
              </a:defRPr>
            </a:pPr>
            <a:r>
              <a:t>KIẾN TRÚC &amp; CÔNG NGHỆ CỐT LÕI</a:t>
            </a:r>
          </a:p>
          <a:p>
            <a:pPr>
              <a:spcBef>
                <a:spcPts val="1200"/>
              </a:spcBef>
              <a:defRPr sz="1100">
                <a:solidFill>
                  <a:srgbClr val="1E293B"/>
                </a:solidFill>
                <a:latin typeface="Arial"/>
              </a:defRPr>
            </a:pPr>
            <a:r>
              <a:t>• Kiến trúc 4 tầng phân lớp bền vững</a:t>
            </a:r>
            <a:br/>
            <a:r>
              <a:t>• Tách bạch CI &amp; CD (Triết lý ADR-043)</a:t>
            </a:r>
            <a:br/>
            <a:r>
              <a:t>• Bộ định tuyến Jenkins Multi-Controller</a:t>
            </a:r>
            <a:br/>
            <a:r>
              <a:t>• 5 Lớp phòng thủ tài nguyên AI PR</a:t>
            </a:r>
            <a:br/>
            <a:r>
              <a:t>• Bảo mật chuỗi cung ứng SLSA v1 &amp; SBOM</a:t>
            </a:r>
          </a:p>
        </p:txBody>
      </p:sp>
      <p:sp>
        <p:nvSpPr>
          <p:cNvPr id="10" name="Rounded Rectangle 9"/>
          <p:cNvSpPr/>
          <p:nvPr/>
        </p:nvSpPr>
        <p:spPr>
          <a:xfrm>
            <a:off x="6126480" y="1645920"/>
            <a:ext cx="256032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PHẦN 3</a:t>
            </a:r>
          </a:p>
          <a:p>
            <a:pPr>
              <a:spcBef>
                <a:spcPts val="600"/>
              </a:spcBef>
              <a:defRPr sz="1300" b="1">
                <a:solidFill>
                  <a:srgbClr val="0F172A"/>
                </a:solidFill>
                <a:latin typeface="Arial"/>
              </a:defRPr>
            </a:pPr>
            <a:r>
              <a:t>TRIỂN KHAI THỰC NGHIỆM &amp; KẾT QUẢ</a:t>
            </a:r>
          </a:p>
          <a:p>
            <a:pPr>
              <a:spcBef>
                <a:spcPts val="1200"/>
              </a:spcBef>
              <a:defRPr sz="1100">
                <a:solidFill>
                  <a:srgbClr val="1E293B"/>
                </a:solidFill>
                <a:latin typeface="Arial"/>
              </a:defRPr>
            </a:pPr>
            <a:r>
              <a:t>• Demo 5 Kịch bản vận hành thực tế</a:t>
            </a:r>
            <a:br/>
            <a:r>
              <a:t>• Production Dual-Approval &amp; Auto-Rollback</a:t>
            </a:r>
            <a:br/>
            <a:r>
              <a:t>• Live CVE Exposure Tracking thời gian thực</a:t>
            </a:r>
            <a:br/>
            <a:r>
              <a:t>• Preview Environments thực tế trên K8s</a:t>
            </a:r>
            <a:br/>
            <a:r>
              <a:t>• Diễn tập khôi phục thảm họa (DR Drill)</a:t>
            </a:r>
          </a:p>
        </p:txBody>
      </p:sp>
      <p:sp>
        <p:nvSpPr>
          <p:cNvPr id="11" name="Rounded Rectangle 10"/>
          <p:cNvSpPr/>
          <p:nvPr/>
        </p:nvSpPr>
        <p:spPr>
          <a:xfrm>
            <a:off x="8823960" y="1645920"/>
            <a:ext cx="256032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PHẦN 4</a:t>
            </a:r>
          </a:p>
          <a:p>
            <a:pPr>
              <a:spcBef>
                <a:spcPts val="600"/>
              </a:spcBef>
              <a:defRPr sz="1300" b="1">
                <a:solidFill>
                  <a:srgbClr val="0F172A"/>
                </a:solidFill>
                <a:latin typeface="Arial"/>
              </a:defRPr>
            </a:pPr>
            <a:r>
              <a:t>KẾT LUẬN &amp; ĐÓNG GÓP CHO VIETTEL</a:t>
            </a:r>
          </a:p>
          <a:p>
            <a:pPr>
              <a:spcBef>
                <a:spcPts val="1200"/>
              </a:spcBef>
              <a:defRPr sz="1100">
                <a:solidFill>
                  <a:srgbClr val="1E293B"/>
                </a:solidFill>
                <a:latin typeface="Arial"/>
              </a:defRPr>
            </a:pPr>
            <a:r>
              <a:t>• 3 Giá trị trụ cột đóng góp cho VTNet</a:t>
            </a:r>
            <a:br/>
            <a:r>
              <a:t>• Tiết kiệm chi phí bản quyền thương mại</a:t>
            </a:r>
            <a:br/>
            <a:r>
              <a:t>• So sánh đối chuẩn (ArgoCD, GitLab)</a:t>
            </a:r>
            <a:br/>
            <a:r>
              <a:t>• Lộ trình mở rộng quy mô toàn Tập đoàn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2011680"/>
            <a:ext cx="182880" cy="2743200"/>
          </a:xfrm>
          <a:prstGeom prst="rect">
            <a:avLst/>
          </a:prstGeom>
          <a:solidFill>
            <a:srgbClr val="EE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1828800"/>
            <a:ext cx="9144000" cy="457200"/>
          </a:xfrm>
          <a:prstGeom prst="rect">
            <a:avLst/>
          </a:prstGeom>
          <a:noFill/>
        </p:spPr>
        <p:txBody>
          <a:bodyPr wrap="none">
            <a:spAutoFit/>
          </a:bodyPr>
          <a:lstStyle/>
          <a:p>
            <a:pPr>
              <a:defRPr sz="1600" b="1">
                <a:solidFill>
                  <a:srgbClr val="EE0033"/>
                </a:solidFill>
                <a:latin typeface="Arial"/>
              </a:defRPr>
            </a:pPr>
            <a:r>
              <a:t>PHẦN 1</a:t>
            </a:r>
          </a:p>
        </p:txBody>
      </p:sp>
      <p:sp>
        <p:nvSpPr>
          <p:cNvPr id="5" name="TextBox 4"/>
          <p:cNvSpPr txBox="1"/>
          <p:nvPr/>
        </p:nvSpPr>
        <p:spPr>
          <a:xfrm>
            <a:off x="1554480" y="2286000"/>
            <a:ext cx="9601200" cy="1371600"/>
          </a:xfrm>
          <a:prstGeom prst="rect">
            <a:avLst/>
          </a:prstGeom>
          <a:noFill/>
        </p:spPr>
        <p:txBody>
          <a:bodyPr wrap="square">
            <a:spAutoFit/>
          </a:bodyPr>
          <a:lstStyle/>
          <a:p>
            <a:pPr>
              <a:defRPr sz="3600" b="1">
                <a:solidFill>
                  <a:srgbClr val="FFFFFF"/>
                </a:solidFill>
                <a:latin typeface="Arial"/>
              </a:defRPr>
            </a:pPr>
            <a:r>
              <a:t>SỨ MỆNH &amp; MỤC TIÊU ĐỀ TÀI</a:t>
            </a:r>
          </a:p>
        </p:txBody>
      </p:sp>
      <p:sp>
        <p:nvSpPr>
          <p:cNvPr id="6" name="TextBox 5"/>
          <p:cNvSpPr txBox="1"/>
          <p:nvPr/>
        </p:nvSpPr>
        <p:spPr>
          <a:xfrm>
            <a:off x="1554480" y="3840480"/>
            <a:ext cx="9144000" cy="731520"/>
          </a:xfrm>
          <a:prstGeom prst="rect">
            <a:avLst/>
          </a:prstGeom>
          <a:noFill/>
        </p:spPr>
        <p:txBody>
          <a:bodyPr wrap="square">
            <a:spAutoFit/>
          </a:bodyPr>
          <a:lstStyle/>
          <a:p>
            <a:pPr>
              <a:defRPr sz="1800">
                <a:solidFill>
                  <a:srgbClr val="CBD5E1"/>
                </a:solidFill>
                <a:latin typeface="Arial"/>
              </a:defRPr>
            </a:pPr>
            <a:r>
              <a:t>Bối cảnh hạ tầng mạng lưới VTNet và những thách thức sống còn trong kỷ nguyên số</a:t>
            </a:r>
          </a:p>
        </p:txBody>
      </p:sp>
      <p:sp>
        <p:nvSpPr>
          <p:cNvPr id="7" name="TextBox 6"/>
          <p:cNvSpPr txBox="1"/>
          <p:nvPr/>
        </p:nvSpPr>
        <p:spPr>
          <a:xfrm>
            <a:off x="1554480" y="4937760"/>
            <a:ext cx="9144000" cy="731520"/>
          </a:xfrm>
          <a:prstGeom prst="rect">
            <a:avLst/>
          </a:prstGeom>
          <a:noFill/>
        </p:spPr>
        <p:txBody>
          <a:bodyPr wrap="none">
            <a:spAutoFit/>
          </a:bodyPr>
          <a:lstStyle/>
          <a:p>
            <a:pPr>
              <a:defRPr sz="1400" i="1">
                <a:solidFill>
                  <a:srgbClr val="64748B"/>
                </a:solidFill>
                <a:latin typeface="Arial"/>
              </a:defRPr>
            </a:pPr>
            <a:r>
              <a:t>« Chất lượng mạng lưới là sinh mệnh - Tự chủ công nghệ là nền tảng vững chắc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1: SỨ MỆNH &amp; MỤC TIÊU</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BỐI CẢNH VTNET &amp; ĐẶC THÙ HẠ TẦNG ĐA DẠNG</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04 / 30</a:t>
            </a:r>
          </a:p>
        </p:txBody>
      </p:sp>
      <p:sp>
        <p:nvSpPr>
          <p:cNvPr id="8" name="Rounded Rectangle 7"/>
          <p:cNvSpPr/>
          <p:nvPr/>
        </p:nvSpPr>
        <p:spPr>
          <a:xfrm>
            <a:off x="73152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HOST BARE-METAL &amp; VM</a:t>
            </a:r>
          </a:p>
          <a:p>
            <a:pPr>
              <a:spcBef>
                <a:spcPts val="400"/>
              </a:spcBef>
              <a:defRPr sz="1100" b="1">
                <a:solidFill>
                  <a:srgbClr val="64748B"/>
                </a:solidFill>
                <a:latin typeface="Arial"/>
              </a:defRPr>
            </a:pPr>
            <a:r>
              <a:t>60% Tải Trọng Yếu Viễn Thông</a:t>
            </a:r>
          </a:p>
          <a:p>
            <a:pPr>
              <a:spcBef>
                <a:spcPts val="1200"/>
              </a:spcBef>
              <a:defRPr sz="1100">
                <a:solidFill>
                  <a:srgbClr val="0F172A"/>
                </a:solidFill>
                <a:latin typeface="Arial"/>
              </a:defRPr>
            </a:pPr>
            <a:r>
              <a:t>• Các hệ thống Core Network, OCS, Billing, IMS.</a:t>
            </a:r>
            <a:br/>
            <a:r>
              <a:t>• Yêu cầu độ trễ cực thấp (Sub-millisecond), can thiệp trực tiếp phần cứng.</a:t>
            </a:r>
            <a:br/>
            <a:r>
              <a:t>• Đóng gói dạng RPM, cấu hình systemd, tự động hóa qua Ansible.</a:t>
            </a:r>
            <a:br/>
            <a:r>
              <a:t>• Thách thức: Không thể container hóa đơn giản.</a:t>
            </a:r>
          </a:p>
        </p:txBody>
      </p:sp>
      <p:sp>
        <p:nvSpPr>
          <p:cNvPr id="9" name="Rounded Rectangle 8"/>
          <p:cNvSpPr/>
          <p:nvPr/>
        </p:nvSpPr>
        <p:spPr>
          <a:xfrm>
            <a:off x="434340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DOCKER RUNTIME</a:t>
            </a:r>
          </a:p>
          <a:p>
            <a:pPr>
              <a:spcBef>
                <a:spcPts val="400"/>
              </a:spcBef>
              <a:defRPr sz="1100" b="1">
                <a:solidFill>
                  <a:srgbClr val="64748B"/>
                </a:solidFill>
                <a:latin typeface="Arial"/>
              </a:defRPr>
            </a:pPr>
            <a:r>
              <a:t>25% Ứng Dụng Phụ Trợ &amp; Dịch Vụ Số</a:t>
            </a:r>
          </a:p>
          <a:p>
            <a:pPr>
              <a:spcBef>
                <a:spcPts val="1200"/>
              </a:spcBef>
              <a:defRPr sz="1100">
                <a:solidFill>
                  <a:srgbClr val="0F172A"/>
                </a:solidFill>
                <a:latin typeface="Arial"/>
              </a:defRPr>
            </a:pPr>
            <a:r>
              <a:t>• Nền tảng phân tích dữ liệu, API Gateway nội bộ, công cụ giám sát.</a:t>
            </a:r>
            <a:br/>
            <a:r>
              <a:t>• Chạy trên máy chủ độc lập qua Docker Compose.</a:t>
            </a:r>
            <a:br/>
            <a:r>
              <a:t>• Thách thức: Quản lý biến môi trường phân tán, rủi ro cấu hình không đồng nhất giữa các node.</a:t>
            </a:r>
          </a:p>
        </p:txBody>
      </p:sp>
      <p:sp>
        <p:nvSpPr>
          <p:cNvPr id="10" name="Rounded Rectangle 9"/>
          <p:cNvSpPr/>
          <p:nvPr/>
        </p:nvSpPr>
        <p:spPr>
          <a:xfrm>
            <a:off x="795528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KUBERNETES / OPENSHIFT</a:t>
            </a:r>
          </a:p>
          <a:p>
            <a:pPr>
              <a:spcBef>
                <a:spcPts val="400"/>
              </a:spcBef>
              <a:defRPr sz="1100" b="1">
                <a:solidFill>
                  <a:srgbClr val="64748B"/>
                </a:solidFill>
                <a:latin typeface="Arial"/>
              </a:defRPr>
            </a:pPr>
            <a:r>
              <a:t>15% Nền Tảng Microservices Mới</a:t>
            </a:r>
          </a:p>
          <a:p>
            <a:pPr>
              <a:spcBef>
                <a:spcPts val="1200"/>
              </a:spcBef>
              <a:defRPr sz="1100">
                <a:solidFill>
                  <a:srgbClr val="0F172A"/>
                </a:solidFill>
                <a:latin typeface="Arial"/>
              </a:defRPr>
            </a:pPr>
            <a:r>
              <a:t>• Các ứng dụng số thế hệ mới, dịch vụ khách hàng, AI Serving.</a:t>
            </a:r>
            <a:br/>
            <a:r>
              <a:t>• Tự động scale, cân bằng tải, Ingress routing.</a:t>
            </a:r>
            <a:br/>
            <a:r>
              <a:t>• Thách thức: Quản lý vòng đời Helm Chart, đồng bộ cấu hình Secret và cô lập mạng.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1: SỨ MỆNH &amp; MỤC TIÊU</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HIỆN TRẠNG &amp; BỐN NỖI ĐAU LỚN CỦA ĐỘI NGŨ KỸ SƯ</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05 / 30</a:t>
            </a:r>
          </a:p>
        </p:txBody>
      </p:sp>
      <p:sp>
        <p:nvSpPr>
          <p:cNvPr id="8" name="Rounded Rectangle 7"/>
          <p:cNvSpPr/>
          <p:nvPr/>
        </p:nvSpPr>
        <p:spPr>
          <a:xfrm>
            <a:off x="731520" y="1645920"/>
            <a:ext cx="53035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1. JENKINS PHÂN MẢNH &amp; NGHẼN ĐƠN ĐIỂM</a:t>
            </a:r>
          </a:p>
          <a:p>
            <a:pPr>
              <a:spcBef>
                <a:spcPts val="400"/>
              </a:spcBef>
              <a:defRPr sz="1050">
                <a:solidFill>
                  <a:srgbClr val="0F172A"/>
                </a:solidFill>
                <a:latin typeface="Arial"/>
              </a:defRPr>
            </a:pPr>
            <a:r>
              <a:t>• Hàng trăm Jenkins Job cấu hình thủ công rải rác.</a:t>
            </a:r>
            <a:br/>
            <a:r>
              <a:t>• Thiếu bộ điều phối cân bằng tải: 1 Controller quá tải trong khi Controller khác rảnh rỗi.</a:t>
            </a:r>
            <a:br/>
            <a:r>
              <a:t>• Cấu hình plugin và agent bị lệch phiên bản (Configuration Drift).</a:t>
            </a:r>
          </a:p>
        </p:txBody>
      </p:sp>
      <p:sp>
        <p:nvSpPr>
          <p:cNvPr id="9" name="Rounded Rectangle 8"/>
          <p:cNvSpPr/>
          <p:nvPr/>
        </p:nvSpPr>
        <p:spPr>
          <a:xfrm>
            <a:off x="6172200" y="1645920"/>
            <a:ext cx="5303520" cy="2103120"/>
          </a:xfrm>
          <a:prstGeom prst="roundRect">
            <a:avLst/>
          </a:prstGeom>
          <a:solidFill>
            <a:srgbClr val="FFFFFF"/>
          </a:solidFill>
          <a:ln w="19050">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2. BÙNG NỔ MÃ NGUỒN DO AI ('AI PR STORM')</a:t>
            </a:r>
          </a:p>
          <a:p>
            <a:pPr>
              <a:spcBef>
                <a:spcPts val="400"/>
              </a:spcBef>
              <a:defRPr sz="1050">
                <a:solidFill>
                  <a:srgbClr val="0F172A"/>
                </a:solidFill>
                <a:latin typeface="Arial"/>
              </a:defRPr>
            </a:pPr>
            <a:r>
              <a:t>• AI Assistant tạo ra hàng chục commit/PR mỗi ngày.</a:t>
            </a:r>
            <a:br/>
            <a:r>
              <a:t>• Mọi commit đều kích hoạt CI/CD vô tội vạ $_x000D_ightarrow$ Hàng đợi tê liệt, cạn kiệt CPU/RAM.</a:t>
            </a:r>
            <a:br/>
            <a:r>
              <a:t>• Build chồng chéo, các commit cũ vẫn chạy lãng phí dù đã bị đè.</a:t>
            </a:r>
          </a:p>
        </p:txBody>
      </p:sp>
      <p:sp>
        <p:nvSpPr>
          <p:cNvPr id="10" name="Rounded Rectangle 9"/>
          <p:cNvSpPr/>
          <p:nvPr/>
        </p:nvSpPr>
        <p:spPr>
          <a:xfrm>
            <a:off x="731520" y="3931920"/>
            <a:ext cx="53035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3. LỖ HỔNG BẢO MẬT CHUỖI CUNG ỨNG</a:t>
            </a:r>
          </a:p>
          <a:p>
            <a:pPr>
              <a:spcBef>
                <a:spcPts val="400"/>
              </a:spcBef>
              <a:defRPr sz="1050">
                <a:solidFill>
                  <a:srgbClr val="0F172A"/>
                </a:solidFill>
                <a:latin typeface="Arial"/>
              </a:defRPr>
            </a:pPr>
            <a:r>
              <a:t>• Container image không có chữ ký số nguồn gốc (Provenance) $_x000D_ightarrow$ Nguy cơ bị tráo đổi mã độc.</a:t>
            </a:r>
            <a:br/>
            <a:r>
              <a:t>• Không lưu trữ SBOM vĩnh viễn: Khi phát hiện CVE mới (Zero-day), mất 3-5 ngày rà soát thủ công từng máy chủ.</a:t>
            </a:r>
          </a:p>
        </p:txBody>
      </p:sp>
      <p:sp>
        <p:nvSpPr>
          <p:cNvPr id="11" name="Rounded Rectangle 10"/>
          <p:cNvSpPr/>
          <p:nvPr/>
        </p:nvSpPr>
        <p:spPr>
          <a:xfrm>
            <a:off x="6172200" y="3931920"/>
            <a:ext cx="53035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4. RỦI RO PHÁT HÀNH &amp; 'XANH GIẢ' (FALSE GREEN)</a:t>
            </a:r>
          </a:p>
          <a:p>
            <a:pPr>
              <a:spcBef>
                <a:spcPts val="400"/>
              </a:spcBef>
              <a:defRPr sz="1050">
                <a:solidFill>
                  <a:srgbClr val="0F172A"/>
                </a:solidFill>
                <a:latin typeface="Arial"/>
              </a:defRPr>
            </a:pPr>
            <a:r>
              <a:t>• Pipeline báo xanh nhưng thực tế dịch vụ không chạy được (URL Preview là link ảo).</a:t>
            </a:r>
            <a:br/>
            <a:r>
              <a:t>• Không có nguyên tắc 4 mắt (Dual-approval): Developer tự tạo và tự deploy lên Production.</a:t>
            </a:r>
            <a:br/>
            <a:r>
              <a:t>• Thiếu cơ chế tự động Rollback dựa trên phân tích số liệu giám sát thật.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1: SỨ MỆNH &amp; MỤC TIÊU</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MỤC TIÊU ĐỀ TÀI: XÂY DỰNG NỀN TẢNG netCI PLATFORM</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06 / 30</a:t>
            </a:r>
          </a:p>
        </p:txBody>
      </p:sp>
      <p:sp>
        <p:nvSpPr>
          <p:cNvPr id="8" name="Rounded Rectangle 7"/>
          <p:cNvSpPr/>
          <p:nvPr/>
        </p:nvSpPr>
        <p:spPr>
          <a:xfrm>
            <a:off x="731520" y="1645920"/>
            <a:ext cx="10728655" cy="1280160"/>
          </a:xfrm>
          <a:prstGeom prst="roundRect">
            <a:avLst/>
          </a:prstGeom>
          <a:solidFill>
            <a:srgbClr val="1E293B"/>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500" b="1">
                <a:solidFill>
                  <a:srgbClr val="EE0033"/>
                </a:solidFill>
                <a:latin typeface="Arial"/>
              </a:defRPr>
            </a:pPr>
            <a:r>
              <a:t>TẦM NHÌN: NỀN TẢNG INTERNAL DEVELOPER PLATFORM (IDP) HỢP NHẤT CHO VTNET</a:t>
            </a:r>
          </a:p>
          <a:p>
            <a:pPr>
              <a:spcBef>
                <a:spcPts val="400"/>
              </a:spcBef>
              <a:defRPr sz="1200">
                <a:solidFill>
                  <a:srgbClr val="FFFFFF"/>
                </a:solidFill>
                <a:latin typeface="Arial"/>
              </a:defRPr>
            </a:pPr>
            <a:r>
              <a:t>Xây dựng netCI làm điểm chạm duy nhất cho kỹ sư phát triển phần mềm, chuẩn hóa toàn bộ quy trình Delivery từ Git đến Production runtime, bảo đảm an ninh chuỗi cung ứng tuyệt đối và tối ưu hóa tài nguyên phần cứng viễn thông.</a:t>
            </a:r>
          </a:p>
        </p:txBody>
      </p:sp>
      <p:sp>
        <p:nvSpPr>
          <p:cNvPr id="9" name="Rounded Rectangle 8"/>
          <p:cNvSpPr/>
          <p:nvPr/>
        </p:nvSpPr>
        <p:spPr>
          <a:xfrm>
            <a:off x="731520" y="3200400"/>
            <a:ext cx="2560320" cy="2834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0F172A"/>
                </a:solidFill>
                <a:latin typeface="Arial"/>
              </a:defRPr>
            </a:pPr>
            <a:r>
              <a:t>CHUẨN HÓA 3 RUNTIMES</a:t>
            </a:r>
          </a:p>
          <a:p>
            <a:pPr>
              <a:spcBef>
                <a:spcPts val="800"/>
              </a:spcBef>
              <a:defRPr sz="1100">
                <a:solidFill>
                  <a:srgbClr val="1E293B"/>
                </a:solidFill>
                <a:latin typeface="Arial"/>
              </a:defRPr>
            </a:pPr>
            <a:r>
              <a:t>Hỗ trợ 1-click deploy xuyên suốt Host systemd, Docker và K8s dựa trên Single Source of Truth từ NetBox DCIM.</a:t>
            </a:r>
          </a:p>
        </p:txBody>
      </p:sp>
      <p:sp>
        <p:nvSpPr>
          <p:cNvPr id="10" name="Rounded Rectangle 9"/>
          <p:cNvSpPr/>
          <p:nvPr/>
        </p:nvSpPr>
        <p:spPr>
          <a:xfrm>
            <a:off x="3429000" y="3200400"/>
            <a:ext cx="2560320" cy="2834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0F172A"/>
                </a:solidFill>
                <a:latin typeface="Arial"/>
              </a:defRPr>
            </a:pPr>
            <a:r>
              <a:t>TÁCH BẠCH CI VÀ CD</a:t>
            </a:r>
          </a:p>
          <a:p>
            <a:pPr>
              <a:spcBef>
                <a:spcPts val="800"/>
              </a:spcBef>
              <a:defRPr sz="1100">
                <a:solidFill>
                  <a:srgbClr val="1E293B"/>
                </a:solidFill>
                <a:latin typeface="Arial"/>
              </a:defRPr>
            </a:pPr>
            <a:r>
              <a:t>Triệt tiêu việc build lại khi thăng cấp môi trường (Build Once, Deploy Many). Bắt buộc kiểm chứng thời gian chạy ổn định (Soak Time).</a:t>
            </a:r>
          </a:p>
        </p:txBody>
      </p:sp>
      <p:sp>
        <p:nvSpPr>
          <p:cNvPr id="11" name="Rounded Rectangle 10"/>
          <p:cNvSpPr/>
          <p:nvPr/>
        </p:nvSpPr>
        <p:spPr>
          <a:xfrm>
            <a:off x="6126480" y="3200400"/>
            <a:ext cx="2560320" cy="2834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0F172A"/>
                </a:solidFill>
                <a:latin typeface="Arial"/>
              </a:defRPr>
            </a:pPr>
            <a:r>
              <a:t>CHUỖI CUNG ỨNG SLSA v1</a:t>
            </a:r>
          </a:p>
          <a:p>
            <a:pPr>
              <a:spcBef>
                <a:spcPts val="800"/>
              </a:spcBef>
              <a:defRPr sz="1100">
                <a:solidFill>
                  <a:srgbClr val="1E293B"/>
                </a:solidFill>
                <a:latin typeface="Arial"/>
              </a:defRPr>
            </a:pPr>
            <a:r>
              <a:t>Mọi container được ký số Cosign kèm in-toto attestation. Worker xác thực chữ ký trước khi deploy. Truy vết thời gian thực mọi CVE.</a:t>
            </a:r>
          </a:p>
        </p:txBody>
      </p:sp>
      <p:sp>
        <p:nvSpPr>
          <p:cNvPr id="12" name="Rounded Rectangle 11"/>
          <p:cNvSpPr/>
          <p:nvPr/>
        </p:nvSpPr>
        <p:spPr>
          <a:xfrm>
            <a:off x="8823960" y="3200400"/>
            <a:ext cx="2560320" cy="2834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0F172A"/>
                </a:solidFill>
                <a:latin typeface="Arial"/>
              </a:defRPr>
            </a:pPr>
            <a:r>
              <a:t>100% FAIL-CLOSED</a:t>
            </a:r>
          </a:p>
          <a:p>
            <a:pPr>
              <a:spcBef>
                <a:spcPts val="800"/>
              </a:spcBef>
              <a:defRPr sz="1100">
                <a:solidFill>
                  <a:srgbClr val="1E293B"/>
                </a:solidFill>
                <a:latin typeface="Arial"/>
              </a:defRPr>
            </a:pPr>
            <a:r>
              <a:t>Không chấp nhận 'xanh giả'. Nếu thiếu metric Prometheus hoặc không có xác nhận Ingress từ K8s $_x000D_ightarrow$ Báo lỗi và hủy việc ngay.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2011680"/>
            <a:ext cx="182880" cy="2743200"/>
          </a:xfrm>
          <a:prstGeom prst="rect">
            <a:avLst/>
          </a:prstGeom>
          <a:solidFill>
            <a:srgbClr val="EE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1828800"/>
            <a:ext cx="9144000" cy="457200"/>
          </a:xfrm>
          <a:prstGeom prst="rect">
            <a:avLst/>
          </a:prstGeom>
          <a:noFill/>
        </p:spPr>
        <p:txBody>
          <a:bodyPr wrap="none">
            <a:spAutoFit/>
          </a:bodyPr>
          <a:lstStyle/>
          <a:p>
            <a:pPr>
              <a:defRPr sz="1600" b="1">
                <a:solidFill>
                  <a:srgbClr val="EE0033"/>
                </a:solidFill>
                <a:latin typeface="Arial"/>
              </a:defRPr>
            </a:pPr>
            <a:r>
              <a:t>PHẦN 2</a:t>
            </a:r>
          </a:p>
        </p:txBody>
      </p:sp>
      <p:sp>
        <p:nvSpPr>
          <p:cNvPr id="5" name="TextBox 4"/>
          <p:cNvSpPr txBox="1"/>
          <p:nvPr/>
        </p:nvSpPr>
        <p:spPr>
          <a:xfrm>
            <a:off x="1554480" y="2286000"/>
            <a:ext cx="9601200" cy="1371600"/>
          </a:xfrm>
          <a:prstGeom prst="rect">
            <a:avLst/>
          </a:prstGeom>
          <a:noFill/>
        </p:spPr>
        <p:txBody>
          <a:bodyPr wrap="square">
            <a:spAutoFit/>
          </a:bodyPr>
          <a:lstStyle/>
          <a:p>
            <a:pPr>
              <a:defRPr sz="3600" b="1">
                <a:solidFill>
                  <a:srgbClr val="FFFFFF"/>
                </a:solidFill>
                <a:latin typeface="Arial"/>
              </a:defRPr>
            </a:pPr>
            <a:r>
              <a:t>KIẾN TRÚC &amp; CÔNG NGHỆ CỐT LÕI</a:t>
            </a:r>
          </a:p>
        </p:txBody>
      </p:sp>
      <p:sp>
        <p:nvSpPr>
          <p:cNvPr id="6" name="TextBox 5"/>
          <p:cNvSpPr txBox="1"/>
          <p:nvPr/>
        </p:nvSpPr>
        <p:spPr>
          <a:xfrm>
            <a:off x="1554480" y="3840480"/>
            <a:ext cx="9144000" cy="731520"/>
          </a:xfrm>
          <a:prstGeom prst="rect">
            <a:avLst/>
          </a:prstGeom>
          <a:noFill/>
        </p:spPr>
        <p:txBody>
          <a:bodyPr wrap="square">
            <a:spAutoFit/>
          </a:bodyPr>
          <a:lstStyle/>
          <a:p>
            <a:pPr>
              <a:defRPr sz="1800">
                <a:solidFill>
                  <a:srgbClr val="CBD5E1"/>
                </a:solidFill>
                <a:latin typeface="Arial"/>
              </a:defRPr>
            </a:pPr>
            <a:r>
              <a:t>Thiết kế nền tảng bền vững, các cơ chế kỹ thuật then chốt và giải pháp phòng thủ tài nguyên</a:t>
            </a:r>
          </a:p>
        </p:txBody>
      </p:sp>
      <p:sp>
        <p:nvSpPr>
          <p:cNvPr id="7" name="TextBox 6"/>
          <p:cNvSpPr txBox="1"/>
          <p:nvPr/>
        </p:nvSpPr>
        <p:spPr>
          <a:xfrm>
            <a:off x="1554480" y="4937760"/>
            <a:ext cx="9144000" cy="731520"/>
          </a:xfrm>
          <a:prstGeom prst="rect">
            <a:avLst/>
          </a:prstGeom>
          <a:noFill/>
        </p:spPr>
        <p:txBody>
          <a:bodyPr wrap="none">
            <a:spAutoFit/>
          </a:bodyPr>
          <a:lstStyle/>
          <a:p>
            <a:pPr>
              <a:defRPr sz="1400" i="1">
                <a:solidFill>
                  <a:srgbClr val="64748B"/>
                </a:solidFill>
                <a:latin typeface="Arial"/>
              </a:defRPr>
            </a:pPr>
            <a:r>
              <a:t>« Kiến trúc đúng đắn là nền móng của sự ổn định lâu dài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NGUYÊN LÝ THIẾT KẾ &amp; LỰA CHỌN CÔNG NGHỆ TẠI VTNET</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08 / 30</a:t>
            </a:r>
          </a:p>
        </p:txBody>
      </p:sp>
      <p:sp>
        <p:nvSpPr>
          <p:cNvPr id="8" name="Rounded Rectangle 7"/>
          <p:cNvSpPr/>
          <p:nvPr/>
        </p:nvSpPr>
        <p:spPr>
          <a:xfrm>
            <a:off x="731520" y="1645920"/>
            <a:ext cx="530352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100" b="1">
                <a:solidFill>
                  <a:srgbClr val="64748B"/>
                </a:solidFill>
                <a:latin typeface="Arial"/>
              </a:defRPr>
            </a:pPr>
            <a:r>
              <a:t>DELIVERY WORKFLOW ENGINE</a:t>
            </a:r>
          </a:p>
          <a:p>
            <a:pPr>
              <a:spcBef>
                <a:spcPts val="200"/>
              </a:spcBef>
              <a:defRPr sz="1300" b="1">
                <a:solidFill>
                  <a:srgbClr val="EE0033"/>
                </a:solidFill>
                <a:latin typeface="Arial"/>
              </a:defRPr>
            </a:pPr>
            <a:r>
              <a:t>CHỌN: TEMPORAL WORKFLOW</a:t>
            </a:r>
          </a:p>
          <a:p>
            <a:pPr>
              <a:spcBef>
                <a:spcPts val="400"/>
              </a:spcBef>
              <a:defRPr sz="1000">
                <a:solidFill>
                  <a:srgbClr val="0F172A"/>
                </a:solidFill>
                <a:latin typeface="Arial"/>
              </a:defRPr>
            </a:pPr>
            <a:r>
              <a:t>Thay vì: Celery, Airflow, bash scripts</a:t>
            </a:r>
            <a:br/>
            <a:r>
              <a:t>• Temporal đảm bảo Durable Execution (thực thi bền vững): Nếu máy chủ restart giữa lúc deploy, workflow tự động resume tại đúng bước dở mà không gây rớt trạng thái.</a:t>
            </a:r>
            <a:br/>
            <a:r>
              <a:t>• Hỗ trợ luồng kiểm tra Canary phức tạp, tự động kích hoạt compensation rollback.</a:t>
            </a:r>
          </a:p>
        </p:txBody>
      </p:sp>
      <p:sp>
        <p:nvSpPr>
          <p:cNvPr id="9" name="Rounded Rectangle 8"/>
          <p:cNvSpPr/>
          <p:nvPr/>
        </p:nvSpPr>
        <p:spPr>
          <a:xfrm>
            <a:off x="6172200" y="1645920"/>
            <a:ext cx="530352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100" b="1">
                <a:solidFill>
                  <a:srgbClr val="64748B"/>
                </a:solidFill>
                <a:latin typeface="Arial"/>
              </a:defRPr>
            </a:pPr>
            <a:r>
              <a:t>SINGLE SOURCE OF TRUTH HẠ TẦNG</a:t>
            </a:r>
          </a:p>
          <a:p>
            <a:pPr>
              <a:spcBef>
                <a:spcPts val="200"/>
              </a:spcBef>
              <a:defRPr sz="1300" b="1">
                <a:solidFill>
                  <a:srgbClr val="EE0033"/>
                </a:solidFill>
                <a:latin typeface="Arial"/>
              </a:defRPr>
            </a:pPr>
            <a:r>
              <a:t>CHỌN: NETBOX DCIM</a:t>
            </a:r>
          </a:p>
          <a:p>
            <a:pPr>
              <a:spcBef>
                <a:spcPts val="400"/>
              </a:spcBef>
              <a:defRPr sz="1000">
                <a:solidFill>
                  <a:srgbClr val="0F172A"/>
                </a:solidFill>
                <a:latin typeface="Arial"/>
              </a:defRPr>
            </a:pPr>
            <a:r>
              <a:t>Thay vì: Hardcoded IP, file hosts</a:t>
            </a:r>
            <a:br/>
            <a:r>
              <a:t>• NetBox là hệ thống quản lý tài sản mạng &amp; máy chủ tiêu chuẩn của VTNet.</a:t>
            </a:r>
            <a:br/>
            <a:r>
              <a:t>• netCI truy vấn trực tiếp NetBox API để xác thực quyền máy chủ, phân vùng mạng và tenant trước khi cho phép deploy $_x000D_ightarrow$ Không cấu hình sai IP.</a:t>
            </a:r>
          </a:p>
        </p:txBody>
      </p:sp>
      <p:sp>
        <p:nvSpPr>
          <p:cNvPr id="10" name="Rounded Rectangle 9"/>
          <p:cNvSpPr/>
          <p:nvPr/>
        </p:nvSpPr>
        <p:spPr>
          <a:xfrm>
            <a:off x="731520" y="3931920"/>
            <a:ext cx="530352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100" b="1">
                <a:solidFill>
                  <a:srgbClr val="64748B"/>
                </a:solidFill>
                <a:latin typeface="Arial"/>
              </a:defRPr>
            </a:pPr>
            <a:r>
              <a:t>BẢO MẬT CHUỖI CUNG ỨNG</a:t>
            </a:r>
          </a:p>
          <a:p>
            <a:pPr>
              <a:spcBef>
                <a:spcPts val="200"/>
              </a:spcBef>
              <a:defRPr sz="1300" b="1">
                <a:solidFill>
                  <a:srgbClr val="EE0033"/>
                </a:solidFill>
                <a:latin typeface="Arial"/>
              </a:defRPr>
            </a:pPr>
            <a:r>
              <a:t>CHỌN: COSIGN &amp; SLSA v1</a:t>
            </a:r>
          </a:p>
          <a:p>
            <a:pPr>
              <a:spcBef>
                <a:spcPts val="400"/>
              </a:spcBef>
              <a:defRPr sz="1000">
                <a:solidFill>
                  <a:srgbClr val="0F172A"/>
                </a:solidFill>
                <a:latin typeface="Arial"/>
              </a:defRPr>
            </a:pPr>
            <a:r>
              <a:t>Thay vì: Checksum SHA256 thuần</a:t>
            </a:r>
            <a:br/>
            <a:r>
              <a:t>• Cosign hỗ trợ in-toto provenance attestation gắn chặt commit Git với image digest.</a:t>
            </a:r>
            <a:br/>
            <a:r>
              <a:t>• Xác thực mật mã fail-closed: Container bị sửa 1 bit sẽ bị hủy deploy ngay lập tức.</a:t>
            </a:r>
          </a:p>
        </p:txBody>
      </p:sp>
      <p:sp>
        <p:nvSpPr>
          <p:cNvPr id="11" name="Rounded Rectangle 10"/>
          <p:cNvSpPr/>
          <p:nvPr/>
        </p:nvSpPr>
        <p:spPr>
          <a:xfrm>
            <a:off x="6172200" y="3931920"/>
            <a:ext cx="530352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100" b="1">
                <a:solidFill>
                  <a:srgbClr val="64748B"/>
                </a:solidFill>
                <a:latin typeface="Arial"/>
              </a:defRPr>
            </a:pPr>
            <a:r>
              <a:t>QUÉT LỖ HỔNG OFFLINE</a:t>
            </a:r>
          </a:p>
          <a:p>
            <a:pPr>
              <a:spcBef>
                <a:spcPts val="200"/>
              </a:spcBef>
              <a:defRPr sz="1300" b="1">
                <a:solidFill>
                  <a:srgbClr val="EE0033"/>
                </a:solidFill>
                <a:latin typeface="Arial"/>
              </a:defRPr>
            </a:pPr>
            <a:r>
              <a:t>CHỌN: TRIVY CLI VÀ SBOM CYCLONEDX</a:t>
            </a:r>
          </a:p>
          <a:p>
            <a:pPr>
              <a:spcBef>
                <a:spcPts val="400"/>
              </a:spcBef>
              <a:defRPr sz="1000">
                <a:solidFill>
                  <a:srgbClr val="0F172A"/>
                </a:solidFill>
                <a:latin typeface="Arial"/>
              </a:defRPr>
            </a:pPr>
            <a:r>
              <a:t>Thay vì: Cloud Scanner</a:t>
            </a:r>
            <a:br/>
            <a:r>
              <a:t>• Hoạt động hoàn toàn Air-gapped trong mạng nội bộ VTNet mà không cần internet.</a:t>
            </a:r>
            <a:br/>
            <a:r>
              <a:t>• Xuất chuẩn SBOM CycloneDX/SPDX và lưu trữ vĩnh viễn theo từng phiên bản artifact.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KIẾN TRÚC TỔNG THỂ NỀN TẢNG netCI (4 TẦNG PHÂN LỚP)</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09 / 30</a:t>
            </a:r>
          </a:p>
        </p:txBody>
      </p:sp>
      <p:sp>
        <p:nvSpPr>
          <p:cNvPr id="8" name="Rounded Rectangle 7"/>
          <p:cNvSpPr/>
          <p:nvPr/>
        </p:nvSpPr>
        <p:spPr>
          <a:xfrm>
            <a:off x="731520" y="1645920"/>
            <a:ext cx="10728655"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200" b="1">
                <a:solidFill>
                  <a:srgbClr val="EE0033"/>
                </a:solidFill>
                <a:latin typeface="Arial"/>
              </a:defRPr>
            </a:pPr>
            <a:r>
              <a:t>TẦNG 1: CONTROL PLANE &amp; GIAO DIỆN TỰ PHỤC VỤ</a:t>
            </a:r>
          </a:p>
          <a:p>
            <a:pPr>
              <a:spcBef>
                <a:spcPts val="200"/>
              </a:spcBef>
              <a:defRPr sz="1000">
                <a:solidFill>
                  <a:srgbClr val="0F172A"/>
                </a:solidFill>
                <a:latin typeface="Arial"/>
              </a:defRPr>
            </a:pPr>
            <a:r>
              <a:t>• Web Portal: React 18, TypeScript, Tailwind CSS, Vite (12 test suites, 60 tests passed).</a:t>
            </a:r>
            <a:br/>
            <a:r>
              <a:t>• API Gateway: FastAPI Python (Async, Pydantic v2, OIDC Keycloak SSO, RBAC 3 vai trò: Developer, Reviewer, Admin).</a:t>
            </a:r>
            <a:br/>
            <a:r>
              <a:t>• Smart Git Picker, DAG Pipeline Visualizer, Release Calendar, Live CVE Exposure Browser.</a:t>
            </a:r>
          </a:p>
        </p:txBody>
      </p:sp>
      <p:sp>
        <p:nvSpPr>
          <p:cNvPr id="9" name="Rounded Rectangle 8"/>
          <p:cNvSpPr/>
          <p:nvPr/>
        </p:nvSpPr>
        <p:spPr>
          <a:xfrm>
            <a:off x="731520" y="2788920"/>
            <a:ext cx="10728655"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200" b="1">
                <a:solidFill>
                  <a:srgbClr val="EE0033"/>
                </a:solidFill>
                <a:latin typeface="Arial"/>
              </a:defRPr>
            </a:pPr>
            <a:r>
              <a:t>TẦNG 2: ORCHESTRATION &amp; STATE MANAGEMENT</a:t>
            </a:r>
          </a:p>
          <a:p>
            <a:pPr>
              <a:spcBef>
                <a:spcPts val="200"/>
              </a:spcBef>
              <a:defRPr sz="1000">
                <a:solidFill>
                  <a:srgbClr val="0F172A"/>
                </a:solidFill>
                <a:latin typeface="Arial"/>
              </a:defRPr>
            </a:pPr>
            <a:r>
              <a:t>• Temporal Workflow Cluster: Điều phối luồng phát hành bền vững, Stateful Long-running Workflows.</a:t>
            </a:r>
            <a:br/>
            <a:r>
              <a:t>• PostgreSQL 16: Cơ sở dữ liệu quan hệ với 32 Migration files chuẩn hóa, Advisory Locks chống race condition.</a:t>
            </a:r>
            <a:br/>
            <a:r>
              <a:t>• Reconciliation Engine: Vòng lặp đồng bộ tự động đối chiếu Desired State vs Actual State.</a:t>
            </a:r>
          </a:p>
        </p:txBody>
      </p:sp>
      <p:sp>
        <p:nvSpPr>
          <p:cNvPr id="10" name="Rounded Rectangle 9"/>
          <p:cNvSpPr/>
          <p:nvPr/>
        </p:nvSpPr>
        <p:spPr>
          <a:xfrm>
            <a:off x="731520" y="3931920"/>
            <a:ext cx="10728655"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200" b="1">
                <a:solidFill>
                  <a:srgbClr val="EE0033"/>
                </a:solidFill>
                <a:latin typeface="Arial"/>
              </a:defRPr>
            </a:pPr>
            <a:r>
              <a:t>TẦNG 3: CI ENGINE &amp; SUPPLY CHAIN ATTESTATION</a:t>
            </a:r>
          </a:p>
          <a:p>
            <a:pPr>
              <a:spcBef>
                <a:spcPts val="200"/>
              </a:spcBef>
              <a:defRPr sz="1000">
                <a:solidFill>
                  <a:srgbClr val="0F172A"/>
                </a:solidFill>
                <a:latin typeface="Arial"/>
              </a:defRPr>
            </a:pPr>
            <a:r>
              <a:t>• Jenkins Multi-Controller Router: Cân bằng tải thông minh giữa Controller A, B, C; phát hiện Drift cấu hình.</a:t>
            </a:r>
            <a:br/>
            <a:r>
              <a:t>• Ephemeral Kubernetes Agent Pods: Môi trường build cách ly, tự động dọn dẹp khi xong việc.</a:t>
            </a:r>
            <a:br/>
            <a:r>
              <a:t>• Cosign CLI + Trivy Scanner: Ký số nguồn gốc SLSA v1, quét SBOM CycloneDX vĩnh viễn.</a:t>
            </a:r>
          </a:p>
        </p:txBody>
      </p:sp>
      <p:sp>
        <p:nvSpPr>
          <p:cNvPr id="11" name="Rounded Rectangle 10"/>
          <p:cNvSpPr/>
          <p:nvPr/>
        </p:nvSpPr>
        <p:spPr>
          <a:xfrm>
            <a:off x="731520" y="5074920"/>
            <a:ext cx="10728655"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200" b="1">
                <a:solidFill>
                  <a:srgbClr val="EE0033"/>
                </a:solidFill>
                <a:latin typeface="Arial"/>
              </a:defRPr>
            </a:pPr>
            <a:r>
              <a:t>TẦNG 4: MULTI-RUNTIME DELIVERY &amp; TELECOM INFRASTRUCTURE</a:t>
            </a:r>
          </a:p>
          <a:p>
            <a:pPr>
              <a:spcBef>
                <a:spcPts val="200"/>
              </a:spcBef>
              <a:defRPr sz="1000">
                <a:solidFill>
                  <a:srgbClr val="0F172A"/>
                </a:solidFill>
                <a:latin typeface="Arial"/>
              </a:defRPr>
            </a:pPr>
            <a:r>
              <a:t>• Runtime 1 - Bare-metal / VM Host: Ansible Playbooks quản lý systemd service và gói RPM/DEB.</a:t>
            </a:r>
            <a:br/>
            <a:r>
              <a:t>• Runtime 2 - Docker Host: Ansible Docker Module quản lý container phân tán.</a:t>
            </a:r>
            <a:br/>
            <a:r>
              <a:t>• Runtime 3 - Kubernetes: Helm 3 Chart Engine, Ingress NGINX, Preview Ephemeral Namespaces.</a:t>
            </a:r>
            <a:br/>
            <a:r>
              <a:t>• NetBox DCIM: Xác thực danh mục máy chủ và phân vùng mạng trước khi ra lệnh deploy.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CƠ CHẾ TÁCH BẠCH CI VÀ CD - TRIẾT LÝ BUILD ONCE, DEPLOY MANY</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10 / 30</a:t>
            </a:r>
          </a:p>
        </p:txBody>
      </p:sp>
      <p:sp>
        <p:nvSpPr>
          <p:cNvPr id="8" name="Rounded Rectangle 7"/>
          <p:cNvSpPr/>
          <p:nvPr/>
        </p:nvSpPr>
        <p:spPr>
          <a:xfrm>
            <a:off x="731520" y="1645920"/>
            <a:ext cx="10728655" cy="822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EE0033"/>
                </a:solidFill>
                <a:latin typeface="Arial"/>
              </a:defRPr>
            </a:pPr>
            <a:r>
              <a:t>PUSH NHÁNH MAIN  ➔  BUILD VÀ DEPLOY DEV</a:t>
            </a:r>
          </a:p>
          <a:p>
            <a:pPr>
              <a:spcBef>
                <a:spcPts val="200"/>
              </a:spcBef>
              <a:defRPr sz="950">
                <a:solidFill>
                  <a:srgbClr val="0F172A"/>
                </a:solidFill>
                <a:latin typeface="Arial"/>
              </a:defRPr>
            </a:pPr>
            <a:r>
              <a:t>Kích hoạt pipeline đầy đủ: Build image, xuất SBOM, ký số Cosign và triển khai ngay lên môi trường Dev. (Minh chứng: backend/app/domain/delivery_rules.py, Migration 0029)</a:t>
            </a:r>
          </a:p>
        </p:txBody>
      </p:sp>
      <p:sp>
        <p:nvSpPr>
          <p:cNvPr id="9" name="Rounded Rectangle 8"/>
          <p:cNvSpPr/>
          <p:nvPr/>
        </p:nvSpPr>
        <p:spPr>
          <a:xfrm>
            <a:off x="731520" y="2542032"/>
            <a:ext cx="10728655" cy="822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EE0033"/>
                </a:solidFill>
                <a:latin typeface="Arial"/>
              </a:defRPr>
            </a:pPr>
            <a:r>
              <a:t>FEATURE BRANCH / PR NỘI BỘ  ➔  BUILD ONLY (CHỈ CHẠY CI)</a:t>
            </a:r>
          </a:p>
          <a:p>
            <a:pPr>
              <a:spcBef>
                <a:spcPts val="200"/>
              </a:spcBef>
              <a:defRPr sz="950">
                <a:solidFill>
                  <a:srgbClr val="0F172A"/>
                </a:solidFill>
                <a:latin typeface="Arial"/>
              </a:defRPr>
            </a:pPr>
            <a:r>
              <a:t>Chỉ chạy Unit Test và Build thử để kiểm tra tính toàn vẹn; tuyệt đối không deploy đè lên bất kỳ môi trường nào. (Minh chứng: backend/app/domain/delivery_rules.py, Migration 0029)</a:t>
            </a:r>
          </a:p>
        </p:txBody>
      </p:sp>
      <p:sp>
        <p:nvSpPr>
          <p:cNvPr id="10" name="Rounded Rectangle 9"/>
          <p:cNvSpPr/>
          <p:nvPr/>
        </p:nvSpPr>
        <p:spPr>
          <a:xfrm>
            <a:off x="731520" y="3438144"/>
            <a:ext cx="10728655" cy="822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EE0033"/>
                </a:solidFill>
                <a:latin typeface="Arial"/>
              </a:defRPr>
            </a:pPr>
            <a:r>
              <a:t>PULL REQUEST TỪ FORK  ➔  VERIFY ONLY (KHÔNG SECRET)</a:t>
            </a:r>
          </a:p>
          <a:p>
            <a:pPr>
              <a:spcBef>
                <a:spcPts val="200"/>
              </a:spcBef>
              <a:defRPr sz="950">
                <a:solidFill>
                  <a:srgbClr val="0F172A"/>
                </a:solidFill>
                <a:latin typeface="Arial"/>
              </a:defRPr>
            </a:pPr>
            <a:r>
              <a:t>Chỉ chạy kiểm tra cú pháp và test cơ bản; tuyệt đối không cấp secret/khóa ký số Cosign để ngăn ngừa mã độc đánh cắp secret. (Minh chứng: backend/app/domain/delivery_rules.py, Migration 0029)</a:t>
            </a:r>
          </a:p>
        </p:txBody>
      </p:sp>
      <p:sp>
        <p:nvSpPr>
          <p:cNvPr id="11" name="Rounded Rectangle 10"/>
          <p:cNvSpPr/>
          <p:nvPr/>
        </p:nvSpPr>
        <p:spPr>
          <a:xfrm>
            <a:off x="731520" y="4334256"/>
            <a:ext cx="10728655" cy="822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EE0033"/>
                </a:solidFill>
                <a:latin typeface="Arial"/>
              </a:defRPr>
            </a:pPr>
            <a:r>
              <a:t>TAG PHÁT HÀNH (vX.Y.Z)  ➔  VERSION REGISTRY</a:t>
            </a:r>
          </a:p>
          <a:p>
            <a:pPr>
              <a:spcBef>
                <a:spcPts val="200"/>
              </a:spcBef>
              <a:defRPr sz="950">
                <a:solidFill>
                  <a:srgbClr val="0F172A"/>
                </a:solidFill>
                <a:latin typeface="Arial"/>
              </a:defRPr>
            </a:pPr>
            <a:r>
              <a:t>Đăng ký phiên bản phát hành chính thức; khóa bất biến commit SHA và digest image. (Minh chứng: backend/app/domain/delivery_rules.py, Migration 0029)</a:t>
            </a:r>
          </a:p>
        </p:txBody>
      </p:sp>
      <p:sp>
        <p:nvSpPr>
          <p:cNvPr id="12" name="Rounded Rectangle 11"/>
          <p:cNvSpPr/>
          <p:nvPr/>
        </p:nvSpPr>
        <p:spPr>
          <a:xfrm>
            <a:off x="731520" y="5230368"/>
            <a:ext cx="10728655" cy="822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EE0033"/>
                </a:solidFill>
                <a:latin typeface="Arial"/>
              </a:defRPr>
            </a:pPr>
            <a:r>
              <a:t>PROMOTION KHÔNG BUILD LẠI  ➔  DEV $_x000D_ightarrow$ STAGING $_x000D_ightarrow$ PROD</a:t>
            </a:r>
          </a:p>
          <a:p>
            <a:pPr>
              <a:spcBef>
                <a:spcPts val="200"/>
              </a:spcBef>
              <a:defRPr sz="950">
                <a:solidFill>
                  <a:srgbClr val="0F172A"/>
                </a:solidFill>
                <a:latin typeface="Arial"/>
              </a:defRPr>
            </a:pPr>
            <a:r>
              <a:t>Tái sử dụng nguyên vẹn digest SHA256 đã kiểm chứng. Bắt buộc vượt qua điều kiện thời gian chạy ổn định (Soak Time). (Minh chứng: backend/app/domain/delivery_rules.py, Migration 0029)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ĐIỀU PHỐI ĐA JENKINS CONTROLLER &amp; KIỂM SOÁT LỆCH CẤU HÌNH</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11 / 30</a:t>
            </a:r>
          </a:p>
        </p:txBody>
      </p:sp>
      <p:sp>
        <p:nvSpPr>
          <p:cNvPr id="8" name="Rounded Rectangle 7"/>
          <p:cNvSpPr/>
          <p:nvPr/>
        </p:nvSpPr>
        <p:spPr>
          <a:xfrm>
            <a:off x="73152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TIỀN KIỂM 7 BƯỚC (PREFLIGHT)</a:t>
            </a:r>
          </a:p>
          <a:p>
            <a:pPr>
              <a:spcBef>
                <a:spcPts val="400"/>
              </a:spcBef>
              <a:defRPr sz="1000" b="1">
                <a:solidFill>
                  <a:srgbClr val="64748B"/>
                </a:solidFill>
                <a:latin typeface="Arial"/>
              </a:defRPr>
            </a:pPr>
            <a:r>
              <a:t>scripts/jenkins_preflight.py</a:t>
            </a:r>
          </a:p>
          <a:p>
            <a:pPr>
              <a:spcBef>
                <a:spcPts val="1200"/>
              </a:spcBef>
              <a:defRPr sz="1100">
                <a:solidFill>
                  <a:srgbClr val="0F172A"/>
                </a:solidFill>
                <a:latin typeface="Arial"/>
              </a:defRPr>
            </a:pPr>
            <a:r>
              <a:t>• 100% Fail-closed: Bắt buộc PASS 7/7 bài test trước khi nối mạng.</a:t>
            </a:r>
            <a:br/>
            <a:r>
              <a:t>• Kiểm tra: URL API, Token hợp lệ, CSRF Crumb, Ephemeral Agent Cloud, Secret Cosign Key, Shared Library, Pipeline Job template.</a:t>
            </a:r>
          </a:p>
        </p:txBody>
      </p:sp>
      <p:sp>
        <p:nvSpPr>
          <p:cNvPr id="9" name="Rounded Rectangle 8"/>
          <p:cNvSpPr/>
          <p:nvPr/>
        </p:nvSpPr>
        <p:spPr>
          <a:xfrm>
            <a:off x="434340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BỘ ĐỊNH TUYẾN THÔNG MINH (ROUTER)</a:t>
            </a:r>
          </a:p>
          <a:p>
            <a:pPr>
              <a:spcBef>
                <a:spcPts val="400"/>
              </a:spcBef>
              <a:defRPr sz="1000" b="1">
                <a:solidFill>
                  <a:srgbClr val="64748B"/>
                </a:solidFill>
                <a:latin typeface="Arial"/>
              </a:defRPr>
            </a:pPr>
            <a:r>
              <a:t>backend/app/adapters/jenkins_router.py</a:t>
            </a:r>
          </a:p>
          <a:p>
            <a:pPr>
              <a:spcBef>
                <a:spcPts val="1200"/>
              </a:spcBef>
              <a:defRPr sz="1100">
                <a:solidFill>
                  <a:srgbClr val="0F172A"/>
                </a:solidFill>
                <a:latin typeface="Arial"/>
              </a:defRPr>
            </a:pPr>
            <a:r>
              <a:t>• Điều phối linh hoạt 1, 2 hoặc 3+ Jenkins Controller.</a:t>
            </a:r>
            <a:br/>
            <a:r>
              <a:t>• Thuật toán chọn Controller tối ưu dựa trên queue_depth (số job đang chờ) và available_capacity (số executor trống).</a:t>
            </a:r>
            <a:br/>
            <a:r>
              <a:t>• Tự động Failover: Chuyển ngay sang Controller dự phòng nếu Controller chính mất kết nối.</a:t>
            </a:r>
          </a:p>
        </p:txBody>
      </p:sp>
      <p:sp>
        <p:nvSpPr>
          <p:cNvPr id="10" name="Rounded Rectangle 9"/>
          <p:cNvSpPr/>
          <p:nvPr/>
        </p:nvSpPr>
        <p:spPr>
          <a:xfrm>
            <a:off x="795528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PHÁT HIỆN LỆCH CẤU HÌNH (DRIFT)</a:t>
            </a:r>
          </a:p>
          <a:p>
            <a:pPr>
              <a:spcBef>
                <a:spcPts val="400"/>
              </a:spcBef>
              <a:defRPr sz="1000" b="1">
                <a:solidFill>
                  <a:srgbClr val="64748B"/>
                </a:solidFill>
                <a:latin typeface="Arial"/>
              </a:defRPr>
            </a:pPr>
            <a:r>
              <a:t>GET /api/v1/ci/controllers/drift</a:t>
            </a:r>
          </a:p>
          <a:p>
            <a:pPr>
              <a:spcBef>
                <a:spcPts val="1200"/>
              </a:spcBef>
              <a:defRPr sz="1100">
                <a:solidFill>
                  <a:srgbClr val="0F172A"/>
                </a:solidFill>
                <a:latin typeface="Arial"/>
              </a:defRPr>
            </a:pPr>
            <a:r>
              <a:t>• Tự động so sánh phiên bản Plugin giữa Controller A, B và C.</a:t>
            </a:r>
            <a:br/>
            <a:r>
              <a:t>• Kiểm tra tính đồng nhất của commit Git Shared Library.</a:t>
            </a:r>
            <a:br/>
            <a:r>
              <a:t>• Cảnh báo người quản trị ngay khi có sự sai lệch cấu hình trước khi phát sinh lỗi.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CHIẾN LƯỢC 5 LỚP PHÒNG THỦ CHỐNG BÙNG NỔ MÃ NGUỒN AI</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12 / 30</a:t>
            </a:r>
          </a:p>
        </p:txBody>
      </p:sp>
      <p:sp>
        <p:nvSpPr>
          <p:cNvPr id="8" name="Rounded Rectangle 7"/>
          <p:cNvSpPr/>
          <p:nvPr/>
        </p:nvSpPr>
        <p:spPr>
          <a:xfrm>
            <a:off x="731520" y="1645920"/>
            <a:ext cx="10728655" cy="822960"/>
          </a:xfrm>
          <a:prstGeom prst="roundRect">
            <a:avLst/>
          </a:prstGeom>
          <a:solidFill>
            <a:srgbClr val="FFFFFF"/>
          </a:solidFill>
          <a:ln w="19050">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EE0033"/>
                </a:solidFill>
                <a:latin typeface="Arial"/>
              </a:defRPr>
            </a:pPr>
            <a:r>
              <a:t>LỚP 1: QUOTA ENFORCER &amp; DATABASE LOCK  [backend/app/policy/quota.py]</a:t>
            </a:r>
          </a:p>
          <a:p>
            <a:pPr>
              <a:spcBef>
                <a:spcPts val="200"/>
              </a:spcBef>
              <a:defRPr sz="950">
                <a:solidFill>
                  <a:srgbClr val="0F172A"/>
                </a:solidFill>
                <a:latin typeface="Arial"/>
              </a:defRPr>
            </a:pPr>
            <a:r>
              <a:t>Khóa giao dịch PostgreSQL `pg_advisory_xact_lock` chống race condition; chặn ngay tại cửa với mã lỗi HTTP 429 `PIPELINE_QUOTA_EXCEEDED` khi vượt quá hạn mức job đồng thời.</a:t>
            </a:r>
          </a:p>
        </p:txBody>
      </p:sp>
      <p:sp>
        <p:nvSpPr>
          <p:cNvPr id="9" name="Rounded Rectangle 8"/>
          <p:cNvSpPr/>
          <p:nvPr/>
        </p:nvSpPr>
        <p:spPr>
          <a:xfrm>
            <a:off x="731520" y="2542032"/>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EE0033"/>
                </a:solidFill>
                <a:latin typeface="Arial"/>
              </a:defRPr>
            </a:pPr>
            <a:r>
              <a:t>LỚP 2: TỰ ĐỘNG HỦY BUILD LỖI THỜI (SUPERSEDED)  [backend/app/adapters/jenkins_client.py]</a:t>
            </a:r>
          </a:p>
          <a:p>
            <a:pPr>
              <a:spcBef>
                <a:spcPts val="200"/>
              </a:spcBef>
              <a:defRPr sz="950">
                <a:solidFill>
                  <a:srgbClr val="0F172A"/>
                </a:solidFill>
                <a:latin typeface="Arial"/>
              </a:defRPr>
            </a:pPr>
            <a:r>
              <a:t>Khi lập trình viên hoặc AI push commit mới vào cùng một PR, netCI tự động gửi lệnh cancel build đang chạy dở của commit cũ, giải phóng executor ngay lập tức.</a:t>
            </a:r>
          </a:p>
        </p:txBody>
      </p:sp>
      <p:sp>
        <p:nvSpPr>
          <p:cNvPr id="10" name="Rounded Rectangle 9"/>
          <p:cNvSpPr/>
          <p:nvPr/>
        </p:nvSpPr>
        <p:spPr>
          <a:xfrm>
            <a:off x="731520" y="3438144"/>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EE0033"/>
                </a:solidFill>
                <a:latin typeface="Arial"/>
              </a:defRPr>
            </a:pPr>
            <a:r>
              <a:t>LỚP 3: LỌC ĐƯỜNG DẪN THAY ĐỔI (PATH FILTERING)  [backend/app/domain/delivery_rules.py]</a:t>
            </a:r>
          </a:p>
          <a:p>
            <a:pPr>
              <a:spcBef>
                <a:spcPts val="200"/>
              </a:spcBef>
              <a:defRPr sz="950">
                <a:solidFill>
                  <a:srgbClr val="0F172A"/>
                </a:solidFill>
                <a:latin typeface="Arial"/>
              </a:defRPr>
            </a:pPr>
            <a:r>
              <a:t>Nếu PR chỉ thay đổi tài liệu (`*.md`, `docs/*`), hệ thống tự động bỏ qua bước build container nặng, chỉ chạy linter nhẹ trong 5 giây.</a:t>
            </a:r>
          </a:p>
        </p:txBody>
      </p:sp>
      <p:sp>
        <p:nvSpPr>
          <p:cNvPr id="11" name="Rounded Rectangle 10"/>
          <p:cNvSpPr/>
          <p:nvPr/>
        </p:nvSpPr>
        <p:spPr>
          <a:xfrm>
            <a:off x="731520" y="4334256"/>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EE0033"/>
                </a:solidFill>
                <a:latin typeface="Arial"/>
              </a:defRPr>
            </a:pPr>
            <a:r>
              <a:t>LỚP 4: BỘ NHỚ ĐỆM LOCAL GIT MIRROR &amp; CACHE  [/netci-cache/git/mirror.git]</a:t>
            </a:r>
          </a:p>
          <a:p>
            <a:pPr>
              <a:spcBef>
                <a:spcPts val="200"/>
              </a:spcBef>
              <a:defRPr sz="950">
                <a:solidFill>
                  <a:srgbClr val="0F172A"/>
                </a:solidFill>
                <a:latin typeface="Arial"/>
              </a:defRPr>
            </a:pPr>
            <a:r>
              <a:t>Duy trì bare git mirror cục bộ giúp clone repo lớn chỉ mất vài giây; Docker layer cache tái sử dụng tầng thư viện; Agent pod tự hủy ngay khi chạy xong (`idleMinutes: 0`).</a:t>
            </a:r>
          </a:p>
        </p:txBody>
      </p:sp>
      <p:sp>
        <p:nvSpPr>
          <p:cNvPr id="12" name="Rounded Rectangle 11"/>
          <p:cNvSpPr/>
          <p:nvPr/>
        </p:nvSpPr>
        <p:spPr>
          <a:xfrm>
            <a:off x="731520" y="5230368"/>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EE0033"/>
                </a:solidFill>
                <a:latin typeface="Arial"/>
              </a:defRPr>
            </a:pPr>
            <a:r>
              <a:t>LỚP 5: HÀNG ĐỢI PHÂN CẤP ƯU TIÊN (PRIORITY QUEUE)  [Jenkins Priority Sorter]</a:t>
            </a:r>
          </a:p>
          <a:p>
            <a:pPr>
              <a:spcBef>
                <a:spcPts val="200"/>
              </a:spcBef>
              <a:defRPr sz="950">
                <a:solidFill>
                  <a:srgbClr val="0F172A"/>
                </a:solidFill>
                <a:latin typeface="Arial"/>
              </a:defRPr>
            </a:pPr>
            <a:r>
              <a:t>Phân chia 3 bậc ưu tiên rõ ràng: Hotfix Production (Ưu tiên 1) $_x000D_ightarrow$ Kỹ sư người thật (Ưu tiên 2) $_x000D_ightarrow$ Bot tự động của AI (Ưu tiên thấp nhất).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KIỂM SOÁT AN TOÀN PHÁT HÀNH: NGUYÊN TẮC 4 MẮT &amp; LỊCH PHONG TỎA</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13 / 30</a:t>
            </a:r>
          </a:p>
        </p:txBody>
      </p:sp>
      <p:sp>
        <p:nvSpPr>
          <p:cNvPr id="8" name="Rounded Rectangle 7"/>
          <p:cNvSpPr/>
          <p:nvPr/>
        </p:nvSpPr>
        <p:spPr>
          <a:xfrm>
            <a:off x="73152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NGUYÊN TẮC 4 MẮT (DUAL-APPROVAL)</a:t>
            </a:r>
          </a:p>
          <a:p>
            <a:pPr>
              <a:spcBef>
                <a:spcPts val="400"/>
              </a:spcBef>
              <a:defRPr sz="1000" b="1">
                <a:solidFill>
                  <a:srgbClr val="64748B"/>
                </a:solidFill>
                <a:latin typeface="Arial"/>
              </a:defRPr>
            </a:pPr>
            <a:r>
              <a:t>backend/app/api/requests.py</a:t>
            </a:r>
          </a:p>
          <a:p>
            <a:pPr>
              <a:spcBef>
                <a:spcPts val="1200"/>
              </a:spcBef>
              <a:defRPr sz="1100">
                <a:solidFill>
                  <a:srgbClr val="0F172A"/>
                </a:solidFill>
                <a:latin typeface="Arial"/>
              </a:defRPr>
            </a:pPr>
            <a:r>
              <a:t>• Phân quyền RBAC nghiêm ngặt: Developer tạo yêu cầu, Reviewer độc lập phê duyệt.</a:t>
            </a:r>
            <a:br/>
            <a:r>
              <a:t>• Tuyệt đối không cho phép người tạo tự duyệt yêu cầu của chính mình.</a:t>
            </a:r>
            <a:br/>
            <a:r>
              <a:t>• Yêu cầu bắt buộc phải có tài liệu đính kèm: Kế hoạch triển khai (PAT) và Phương án Rollback chi tiết trước khi trình duyệt.</a:t>
            </a:r>
          </a:p>
        </p:txBody>
      </p:sp>
      <p:sp>
        <p:nvSpPr>
          <p:cNvPr id="9" name="Rounded Rectangle 8"/>
          <p:cNvSpPr/>
          <p:nvPr/>
        </p:nvSpPr>
        <p:spPr>
          <a:xfrm>
            <a:off x="434340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LỊCH PHONG TỎA MẠNG LƯỚI (CHANGE FREEZE)</a:t>
            </a:r>
          </a:p>
          <a:p>
            <a:pPr>
              <a:spcBef>
                <a:spcPts val="400"/>
              </a:spcBef>
              <a:defRPr sz="1000" b="1">
                <a:solidFill>
                  <a:srgbClr val="64748B"/>
                </a:solidFill>
                <a:latin typeface="Arial"/>
              </a:defRPr>
            </a:pPr>
            <a:r>
              <a:t>Migration 0031_change_freezes.sql</a:t>
            </a:r>
          </a:p>
          <a:p>
            <a:pPr>
              <a:spcBef>
                <a:spcPts val="1200"/>
              </a:spcBef>
              <a:defRPr sz="1100">
                <a:solidFill>
                  <a:srgbClr val="0F172A"/>
                </a:solidFill>
                <a:latin typeface="Arial"/>
              </a:defRPr>
            </a:pPr>
            <a:r>
              <a:t>• Khóa toàn bộ quyền deploy lên Production trong các khung giờ cao điểm lưu lượng (Tết Nguyên Đán, sự kiện lớn, đêm diễn tập mạng lưới).</a:t>
            </a:r>
            <a:br/>
            <a:r>
              <a:t>• Kiểm tra tự động tại thời điểm trigger deploy: Chặn đứng mọi lệnh phát hành với mã lỗi `CHANGE_FREEZE_ACTIVE` rõ ràng.</a:t>
            </a:r>
          </a:p>
        </p:txBody>
      </p:sp>
      <p:sp>
        <p:nvSpPr>
          <p:cNvPr id="10" name="Rounded Rectangle 9"/>
          <p:cNvSpPr/>
          <p:nvPr/>
        </p:nvSpPr>
        <p:spPr>
          <a:xfrm>
            <a:off x="795528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GIÁM SÁT TRỰC QUAN TRÊN RELEASE CALENDAR</a:t>
            </a:r>
          </a:p>
          <a:p>
            <a:pPr>
              <a:spcBef>
                <a:spcPts val="400"/>
              </a:spcBef>
              <a:defRPr sz="1000" b="1">
                <a:solidFill>
                  <a:srgbClr val="64748B"/>
                </a:solidFill>
                <a:latin typeface="Arial"/>
              </a:defRPr>
            </a:pPr>
            <a:r>
              <a:t>frontend/src/ReleaseCalendar.tsx</a:t>
            </a:r>
          </a:p>
          <a:p>
            <a:pPr>
              <a:spcBef>
                <a:spcPts val="1200"/>
              </a:spcBef>
              <a:defRPr sz="1100">
                <a:solidFill>
                  <a:srgbClr val="0F172A"/>
                </a:solidFill>
                <a:latin typeface="Arial"/>
              </a:defRPr>
            </a:pPr>
            <a:r>
              <a:t>• Hiển thị trực quan toàn bộ các cửa sổ phát hành và khung giờ phong tỏa trên lịch tháng.</a:t>
            </a:r>
            <a:br/>
            <a:r>
              <a:t>• Cảnh báo sớm cho các đội ngũ phát triển trước khi lên kế hoạch release để tránh xung đột lịch trình.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CHIẾN LƯỢC TRIỂN KHAI KHÔNG GIÁN ĐOẠN &amp; CANARY PHÂN TÍCH THẬT</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14 / 30</a:t>
            </a:r>
          </a:p>
        </p:txBody>
      </p:sp>
      <p:sp>
        <p:nvSpPr>
          <p:cNvPr id="8" name="Rounded Rectangle 7"/>
          <p:cNvSpPr/>
          <p:nvPr/>
        </p:nvSpPr>
        <p:spPr>
          <a:xfrm>
            <a:off x="73152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ROLLING UPDATE &amp; BLUE-GREEN</a:t>
            </a:r>
          </a:p>
          <a:p>
            <a:pPr>
              <a:spcBef>
                <a:spcPts val="400"/>
              </a:spcBef>
              <a:defRPr sz="1000" b="1">
                <a:solidFill>
                  <a:srgbClr val="64748B"/>
                </a:solidFill>
                <a:latin typeface="Arial"/>
              </a:defRPr>
            </a:pPr>
            <a:r>
              <a:t>Áp Dụng Cho Host &amp; Docker</a:t>
            </a:r>
          </a:p>
          <a:p>
            <a:pPr>
              <a:spcBef>
                <a:spcPts val="1200"/>
              </a:spcBef>
              <a:defRPr sz="1100">
                <a:solidFill>
                  <a:srgbClr val="0F172A"/>
                </a:solidFill>
                <a:latin typeface="Arial"/>
              </a:defRPr>
            </a:pPr>
            <a:r>
              <a:t>• Cập nhật tuần tự từng máy chủ hoặc theo cụm để đảm bảo luôn có máy chủ phục vụ lưu lượng.</a:t>
            </a:r>
            <a:br/>
            <a:r>
              <a:t>• Hỗ trợ Blue-Green switching: Triển khai môi trường Green song song, kiểm tra thông mạch rồi mới trỏ Ingress/Load Balancer.</a:t>
            </a:r>
          </a:p>
        </p:txBody>
      </p:sp>
      <p:sp>
        <p:nvSpPr>
          <p:cNvPr id="9" name="Rounded Rectangle 8"/>
          <p:cNvSpPr/>
          <p:nvPr/>
        </p:nvSpPr>
        <p:spPr>
          <a:xfrm>
            <a:off x="434340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CANARY PHÂN TÍCH PROMETHEUS THẬT</a:t>
            </a:r>
          </a:p>
          <a:p>
            <a:pPr>
              <a:spcBef>
                <a:spcPts val="400"/>
              </a:spcBef>
              <a:defRPr sz="1000" b="1">
                <a:solidFill>
                  <a:srgbClr val="64748B"/>
                </a:solidFill>
                <a:latin typeface="Arial"/>
              </a:defRPr>
            </a:pPr>
            <a:r>
              <a:t>ADR-046: 100% Không Xanh Giả</a:t>
            </a:r>
          </a:p>
          <a:p>
            <a:pPr>
              <a:spcBef>
                <a:spcPts val="1200"/>
              </a:spcBef>
              <a:defRPr sz="1100">
                <a:solidFill>
                  <a:srgbClr val="0F172A"/>
                </a:solidFill>
                <a:latin typeface="Arial"/>
              </a:defRPr>
            </a:pPr>
            <a:r>
              <a:t>• Điều tiết lưu lượng tăng dần: 10% $_x000D_ightarrow$ 25% $_x000D_ightarrow$ 50% $_x000D_ightarrow$ 100%.</a:t>
            </a:r>
            <a:br/>
            <a:r>
              <a:t>• Thuật toán phân tích truy vấn số liệu thực tế từ Prometheus: Tỉ lệ lỗi HTTP 5xx và độ trễ P99.</a:t>
            </a:r>
            <a:br/>
            <a:r>
              <a:t>• Fail-closed: Nếu Prometheus không có số liệu, netCI coi như thất bại chứ không tự gán 0 lỗi.</a:t>
            </a:r>
          </a:p>
        </p:txBody>
      </p:sp>
      <p:sp>
        <p:nvSpPr>
          <p:cNvPr id="10" name="Rounded Rectangle 9"/>
          <p:cNvSpPr/>
          <p:nvPr/>
        </p:nvSpPr>
        <p:spPr>
          <a:xfrm>
            <a:off x="795528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TỰ ĐỘNG ROLLBACK TỨC THÌ</a:t>
            </a:r>
          </a:p>
          <a:p>
            <a:pPr>
              <a:spcBef>
                <a:spcPts val="400"/>
              </a:spcBef>
              <a:defRPr sz="1000" b="1">
                <a:solidFill>
                  <a:srgbClr val="64748B"/>
                </a:solidFill>
                <a:latin typeface="Arial"/>
              </a:defRPr>
            </a:pPr>
            <a:r>
              <a:t>backend/app/workflows/activities.py</a:t>
            </a:r>
          </a:p>
          <a:p>
            <a:pPr>
              <a:spcBef>
                <a:spcPts val="1200"/>
              </a:spcBef>
              <a:defRPr sz="1100">
                <a:solidFill>
                  <a:srgbClr val="0F172A"/>
                </a:solidFill>
                <a:latin typeface="Arial"/>
              </a:defRPr>
            </a:pPr>
            <a:r>
              <a:t>• Nếu bước phân tích Canary thất bại hoặc phát hiện lỗi hồi quy $_x000D_ightarrow$ Kích hoạt ngay Compensation Activity của Temporal Workflow.</a:t>
            </a:r>
            <a:br/>
            <a:r>
              <a:t>• Tự động hoàn trả phiên bản Stable chỉ trong vài giây, phát thông báo cảnh báo qua webhook.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BẢO MẬT CHUỖI CUNG ỨNG: KÝ SỐ SLSA v1 VÀ XÁC THỰC LÚC DEPLOY</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15 / 30</a:t>
            </a:r>
          </a:p>
        </p:txBody>
      </p:sp>
      <p:sp>
        <p:nvSpPr>
          <p:cNvPr id="8" name="Rounded Rectangle 7"/>
          <p:cNvSpPr/>
          <p:nvPr/>
        </p:nvSpPr>
        <p:spPr>
          <a:xfrm>
            <a:off x="731520" y="164592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BƯỚC 1: XÂY DỰNG ARTIFACT &amp; TẠO CHỨNG TỪ NGUỒN GỐC (PROVENANCE)</a:t>
            </a:r>
          </a:p>
          <a:p>
            <a:pPr>
              <a:spcBef>
                <a:spcPts val="400"/>
              </a:spcBef>
              <a:defRPr sz="1050">
                <a:solidFill>
                  <a:srgbClr val="0F172A"/>
                </a:solidFill>
                <a:latin typeface="Arial"/>
              </a:defRPr>
            </a:pPr>
            <a:r>
              <a:t>• Jenkins Agent đóng gói Container Image và trích xuất Digest SHA256 bất biến.</a:t>
            </a:r>
            <a:br/>
            <a:r>
              <a:t>• Cosign CLI tạo in-toto provenance attestation theo chuẩn quốc tế SLSA v1 (`https://slsa.dev/provenance/v1`).</a:t>
            </a:r>
            <a:br/>
            <a:r>
              <a:t>• Ghi nhận chính xác URL Git Repository, commit SHA, danh tính người kích hoạt và môi trường build.</a:t>
            </a:r>
          </a:p>
        </p:txBody>
      </p:sp>
      <p:sp>
        <p:nvSpPr>
          <p:cNvPr id="9" name="Rounded Rectangle 8"/>
          <p:cNvSpPr/>
          <p:nvPr/>
        </p:nvSpPr>
        <p:spPr>
          <a:xfrm>
            <a:off x="731520" y="315468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BƯỚC 2: KÝ SỐ MẬT MÃ BẰNG KHÓA RIÊNG BẢO MẬT</a:t>
            </a:r>
          </a:p>
          <a:p>
            <a:pPr>
              <a:spcBef>
                <a:spcPts val="400"/>
              </a:spcBef>
              <a:defRPr sz="1050">
                <a:solidFill>
                  <a:srgbClr val="0F172A"/>
                </a:solidFill>
                <a:latin typeface="Arial"/>
              </a:defRPr>
            </a:pPr>
            <a:r>
              <a:t>• Khóa riêng (Private Key) được bảo quản an toàn trong Jenkins Secrets hoặc HashiCorp Vault.</a:t>
            </a:r>
            <a:br/>
            <a:r>
              <a:t>• Chỉ các pipeline chạy trên nhánh chính thống mới được cấp quyền ký số; các PR fork bên ngoài bị từ chối truy cập khóa (ADR-043).</a:t>
            </a:r>
          </a:p>
        </p:txBody>
      </p:sp>
      <p:sp>
        <p:nvSpPr>
          <p:cNvPr id="10" name="Rounded Rectangle 9"/>
          <p:cNvSpPr/>
          <p:nvPr/>
        </p:nvSpPr>
        <p:spPr>
          <a:xfrm>
            <a:off x="731520" y="466344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BƯỚC 3: XÁC THỰC BẮT BUỘC TẠI THỜI ĐIỂM DEPLOY (FAIL-CLOSED INVARIANT)</a:t>
            </a:r>
          </a:p>
          <a:p>
            <a:pPr>
              <a:spcBef>
                <a:spcPts val="400"/>
              </a:spcBef>
              <a:defRPr sz="1050">
                <a:solidFill>
                  <a:srgbClr val="0F172A"/>
                </a:solidFill>
                <a:latin typeface="Arial"/>
              </a:defRPr>
            </a:pPr>
            <a:r>
              <a:t>• Tại thời điểm triển khai, Delivery Worker của netCI bắt buộc gọi Cosign Verify lại chữ ký số với Public Key tin cậy.</a:t>
            </a:r>
            <a:br/>
            <a:r>
              <a:t>• Đối chiếu Digest SHA256 và Commit SHA của image trên Registry với hồ sơ phát hành được duyệt trong cơ sở dữ liệu.</a:t>
            </a:r>
            <a:br/>
            <a:r>
              <a:t>• Nếu phát hiện image bị can thiệp trái phép dù chỉ 1 bit $_x000D_ightarrow$ Từ chối deploy ngay lập tức (Minh chứng: `backend/app/workflows/activities.py`).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TRUY VẾT THỜI GIAN THỰC LỖ HỔNG BẢO MẬT (LIVE CVE EXPOSURE)</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16 / 30</a:t>
            </a:r>
          </a:p>
        </p:txBody>
      </p:sp>
      <p:sp>
        <p:nvSpPr>
          <p:cNvPr id="8" name="Rounded Rectangle 7"/>
          <p:cNvSpPr/>
          <p:nvPr/>
        </p:nvSpPr>
        <p:spPr>
          <a:xfrm>
            <a:off x="73152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LƯU TRỮ SBOM VĨNH VIỄN</a:t>
            </a:r>
          </a:p>
          <a:p>
            <a:pPr>
              <a:spcBef>
                <a:spcPts val="400"/>
              </a:spcBef>
              <a:defRPr sz="1000" b="1">
                <a:solidFill>
                  <a:srgbClr val="64748B"/>
                </a:solidFill>
                <a:latin typeface="Arial"/>
              </a:defRPr>
            </a:pPr>
            <a:r>
              <a:t>Migration 0030_artifact_sboms_and_cve_exposure.sql</a:t>
            </a:r>
          </a:p>
          <a:p>
            <a:pPr>
              <a:spcBef>
                <a:spcPts val="1200"/>
              </a:spcBef>
              <a:defRPr sz="1100">
                <a:solidFill>
                  <a:srgbClr val="0F172A"/>
                </a:solidFill>
                <a:latin typeface="Arial"/>
              </a:defRPr>
            </a:pPr>
            <a:r>
              <a:t>• Lưu trữ toàn bộ danh mục thành phần phần mềm (Software Bill of Materials) theo chuẩn SPDX/CycloneDX vào bảng `artifact_sboms`.</a:t>
            </a:r>
            <a:br/>
            <a:r>
              <a:t>• Không phụ thuộc vào registry bên ngoài: Dù image cũ đã bị xóa, lịch sử linh kiện phần mềm vẫn được lưu giữ trọn đời.</a:t>
            </a:r>
          </a:p>
        </p:txBody>
      </p:sp>
      <p:sp>
        <p:nvSpPr>
          <p:cNvPr id="9" name="Rounded Rectangle 8"/>
          <p:cNvSpPr/>
          <p:nvPr/>
        </p:nvSpPr>
        <p:spPr>
          <a:xfrm>
            <a:off x="434340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TIẾN TRÌNH QUÉT LẠI NỀN (BACKGROUND RESCAN)</a:t>
            </a:r>
          </a:p>
          <a:p>
            <a:pPr>
              <a:spcBef>
                <a:spcPts val="400"/>
              </a:spcBef>
              <a:defRPr sz="1000" b="1">
                <a:solidFill>
                  <a:srgbClr val="64748B"/>
                </a:solidFill>
                <a:latin typeface="Arial"/>
              </a:defRPr>
            </a:pPr>
            <a:r>
              <a:t>backend/app/workers/vuln_scanner.py</a:t>
            </a:r>
          </a:p>
          <a:p>
            <a:pPr>
              <a:spcBef>
                <a:spcPts val="1200"/>
              </a:spcBef>
              <a:defRPr sz="1100">
                <a:solidFill>
                  <a:srgbClr val="0F172A"/>
                </a:solidFill>
                <a:latin typeface="Arial"/>
              </a:defRPr>
            </a:pPr>
            <a:r>
              <a:t>• Định kỳ quét lại toàn bộ cơ sở dữ liệu SBOM khi có bản cập nhật định nghĩa CVE mới từ cơ sở dữ liệu NVD/Trivy.</a:t>
            </a:r>
            <a:br/>
            <a:r>
              <a:t>• Tự động phát hiện các lỗ hổng mới phát sinh trên các phiên bản phần mềm đã triển khai từ lâu.</a:t>
            </a:r>
          </a:p>
        </p:txBody>
      </p:sp>
      <p:sp>
        <p:nvSpPr>
          <p:cNvPr id="10" name="Rounded Rectangle 9"/>
          <p:cNvSpPr/>
          <p:nvPr/>
        </p:nvSpPr>
        <p:spPr>
          <a:xfrm>
            <a:off x="795528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API TRA CỨU LIVE EXPOSURE</a:t>
            </a:r>
          </a:p>
          <a:p>
            <a:pPr>
              <a:spcBef>
                <a:spcPts val="400"/>
              </a:spcBef>
              <a:defRPr sz="1000" b="1">
                <a:solidFill>
                  <a:srgbClr val="64748B"/>
                </a:solidFill>
                <a:latin typeface="Arial"/>
              </a:defRPr>
            </a:pPr>
            <a:r>
              <a:t>GET /api/v1/vulnerabilities/{cve}/exposure</a:t>
            </a:r>
          </a:p>
          <a:p>
            <a:pPr>
              <a:spcBef>
                <a:spcPts val="1200"/>
              </a:spcBef>
              <a:defRPr sz="1100">
                <a:solidFill>
                  <a:srgbClr val="0F172A"/>
                </a:solidFill>
                <a:latin typeface="Arial"/>
              </a:defRPr>
            </a:pPr>
            <a:r>
              <a:t>• Nhập mã CVE bất kỳ (ví dụ: CVE-2024-XXXX) $_x000D_ightarrow$ Trả về ngay danh sách các máy chủ, pod, môi trường cụ thể đang chạy image mang lỗ hổng.</a:t>
            </a:r>
            <a:br/>
            <a:r>
              <a:t>• Thời gian phản hồi dưới 2 giây; hiển thị trực tiếp trên giao diện VulnerabilitiesPage.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PREVIEW ENVIRONMENTS THỰC TẾ TRÊN KUBERNETES (ADR-049)</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17 / 30</a:t>
            </a:r>
          </a:p>
        </p:txBody>
      </p:sp>
      <p:sp>
        <p:nvSpPr>
          <p:cNvPr id="8" name="Rounded Rectangle 7"/>
          <p:cNvSpPr/>
          <p:nvPr/>
        </p:nvSpPr>
        <p:spPr>
          <a:xfrm>
            <a:off x="73152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TRIỆT TIÊU HOÀN TOÀN 'URL ẢO'</a:t>
            </a:r>
          </a:p>
          <a:p>
            <a:pPr>
              <a:spcBef>
                <a:spcPts val="400"/>
              </a:spcBef>
              <a:defRPr sz="1000" b="1">
                <a:solidFill>
                  <a:srgbClr val="64748B"/>
                </a:solidFill>
                <a:latin typeface="Arial"/>
              </a:defRPr>
            </a:pPr>
            <a:r>
              <a:t>Quyết định ADR-049 Invariant</a:t>
            </a:r>
          </a:p>
          <a:p>
            <a:pPr>
              <a:spcBef>
                <a:spcPts val="1200"/>
              </a:spcBef>
              <a:defRPr sz="1100">
                <a:solidFill>
                  <a:srgbClr val="0F172A"/>
                </a:solidFill>
                <a:latin typeface="Arial"/>
              </a:defRPr>
            </a:pPr>
            <a:r>
              <a:t>• Trước đây: Hệ thống ghi bản ghi active với URL giả `https://prv-...` mà không deploy gì cả.</a:t>
            </a:r>
            <a:br/>
            <a:r>
              <a:t>• Nay: Chỉ khi Worker triển khai thật trên K8s và đọc được Ingress host thực tế, preview mới được đánh dấu `active`.</a:t>
            </a:r>
            <a:br/>
            <a:r>
              <a:t>• Các bản ghi cũ không có deploy thật được migration 0032 đánh dấu là `unverified`.</a:t>
            </a:r>
          </a:p>
        </p:txBody>
      </p:sp>
      <p:sp>
        <p:nvSpPr>
          <p:cNvPr id="9" name="Rounded Rectangle 8"/>
          <p:cNvSpPr/>
          <p:nvPr/>
        </p:nvSpPr>
        <p:spPr>
          <a:xfrm>
            <a:off x="434340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NAMESPACE CÁCH LY &amp; PLAYBOOK BẢO VỆ</a:t>
            </a:r>
          </a:p>
          <a:p>
            <a:pPr>
              <a:spcBef>
                <a:spcPts val="400"/>
              </a:spcBef>
              <a:defRPr sz="1000" b="1">
                <a:solidFill>
                  <a:srgbClr val="64748B"/>
                </a:solidFill>
                <a:latin typeface="Arial"/>
              </a:defRPr>
            </a:pPr>
            <a:r>
              <a:t>playbooks/preview-kubernetes.yml</a:t>
            </a:r>
          </a:p>
          <a:p>
            <a:pPr>
              <a:spcBef>
                <a:spcPts val="1200"/>
              </a:spcBef>
              <a:defRPr sz="1100">
                <a:solidFill>
                  <a:srgbClr val="0F172A"/>
                </a:solidFill>
                <a:latin typeface="Arial"/>
              </a:defRPr>
            </a:pPr>
            <a:r>
              <a:t>• Tự động tạo namespace riêng có định dạng `preview-&lt;module&gt;-pr-&lt;n&gt;`.</a:t>
            </a:r>
            <a:br/>
            <a:r>
              <a:t>• Playbook kiểm tra nhãn bắt buộc `netci.io/preview=true`: Tuyệt đối từ chối thao tác trên bất kỳ namespace nào khác.</a:t>
            </a:r>
            <a:br/>
            <a:r>
              <a:t>• Không ảnh hưởng đến các môi trường Dev, Staging hay Production.</a:t>
            </a:r>
          </a:p>
        </p:txBody>
      </p:sp>
      <p:sp>
        <p:nvSpPr>
          <p:cNvPr id="10" name="Rounded Rectangle 9"/>
          <p:cNvSpPr/>
          <p:nvPr/>
        </p:nvSpPr>
        <p:spPr>
          <a:xfrm>
            <a:off x="795528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TỰ ĐỘNG THU HỒI TÀI NGUYÊN (TEARDOWN)</a:t>
            </a:r>
          </a:p>
          <a:p>
            <a:pPr>
              <a:spcBef>
                <a:spcPts val="400"/>
              </a:spcBef>
              <a:defRPr sz="1000" b="1">
                <a:solidFill>
                  <a:srgbClr val="64748B"/>
                </a:solidFill>
                <a:latin typeface="Arial"/>
              </a:defRPr>
            </a:pPr>
            <a:r>
              <a:t>TTL 1 - 72 Giờ &amp; Webhook PR Closed</a:t>
            </a:r>
          </a:p>
          <a:p>
            <a:pPr>
              <a:spcBef>
                <a:spcPts val="1200"/>
              </a:spcBef>
              <a:defRPr sz="1100">
                <a:solidFill>
                  <a:srgbClr val="0F172A"/>
                </a:solidFill>
                <a:latin typeface="Arial"/>
              </a:defRPr>
            </a:pPr>
            <a:r>
              <a:t>• Khi lập trình viên đóng hoặc sáp nhập PR trên Git $_x000D_ightarrow$ Webhook kích hoạt xóa ngay lập tức namespace.</a:t>
            </a:r>
            <a:br/>
            <a:r>
              <a:t>• Cơ chế Reaper chạy ngầm dưới advisory lock tự động dọn dẹp các preview hết hạn TTL $_x000D_ightarrow$ Tiết kiệm 100% tài nguyên.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CƠ CHẾ ĐỒNG BỘ TRẠNG THÁI (RECONCILER) &amp; FENCING TOKEN</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18 / 30</a:t>
            </a:r>
          </a:p>
        </p:txBody>
      </p:sp>
      <p:sp>
        <p:nvSpPr>
          <p:cNvPr id="8" name="Rounded Rectangle 7"/>
          <p:cNvSpPr/>
          <p:nvPr/>
        </p:nvSpPr>
        <p:spPr>
          <a:xfrm>
            <a:off x="73152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VÒNG LẶP RECONCILIATION ENGINE</a:t>
            </a:r>
          </a:p>
          <a:p>
            <a:pPr>
              <a:spcBef>
                <a:spcPts val="400"/>
              </a:spcBef>
              <a:defRPr sz="1000" b="1">
                <a:solidFill>
                  <a:srgbClr val="64748B"/>
                </a:solidFill>
                <a:latin typeface="Arial"/>
              </a:defRPr>
            </a:pPr>
            <a:r>
              <a:t>backend/app/workflows/reconciler.py</a:t>
            </a:r>
          </a:p>
          <a:p>
            <a:pPr>
              <a:spcBef>
                <a:spcPts val="1200"/>
              </a:spcBef>
              <a:defRPr sz="1100">
                <a:solidFill>
                  <a:srgbClr val="0F172A"/>
                </a:solidFill>
                <a:latin typeface="Arial"/>
              </a:defRPr>
            </a:pPr>
            <a:r>
              <a:t>• Liên tục so sánh trạng thái mong muốn (Desired State trong PostgreSQL) với trạng thái thực tế (Actual State trên máy chủ vật lý, Docker và cụm K8s).</a:t>
            </a:r>
            <a:br/>
            <a:r>
              <a:t>• Tự động phát hiện tình trạng trôi cấu hình (Drift) do can thiệp thủ công và đưa hệ thống trở lại trạng thái chuẩn mực.</a:t>
            </a:r>
          </a:p>
        </p:txBody>
      </p:sp>
      <p:sp>
        <p:nvSpPr>
          <p:cNvPr id="9" name="Rounded Rectangle 8"/>
          <p:cNvSpPr/>
          <p:nvPr/>
        </p:nvSpPr>
        <p:spPr>
          <a:xfrm>
            <a:off x="434340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FENCING TOKEN CHỐNG SPLIT-BRAIN</a:t>
            </a:r>
          </a:p>
          <a:p>
            <a:pPr>
              <a:spcBef>
                <a:spcPts val="400"/>
              </a:spcBef>
              <a:defRPr sz="1000" b="1">
                <a:solidFill>
                  <a:srgbClr val="64748B"/>
                </a:solidFill>
                <a:latin typeface="Arial"/>
              </a:defRPr>
            </a:pPr>
            <a:r>
              <a:t>Nguyên lý Distributed Consistency</a:t>
            </a:r>
          </a:p>
          <a:p>
            <a:pPr>
              <a:spcBef>
                <a:spcPts val="1200"/>
              </a:spcBef>
              <a:defRPr sz="1100">
                <a:solidFill>
                  <a:srgbClr val="0F172A"/>
                </a:solidFill>
                <a:latin typeface="Arial"/>
              </a:defRPr>
            </a:pPr>
            <a:r>
              <a:t>• Mỗi chỉ thị triển khai được gán một số thứ tự phiên bản tăng đơn điệu (Monotonic Version Number).</a:t>
            </a:r>
            <a:br/>
            <a:r>
              <a:t>• Nếu một tiến trình chậm trễ (Zombie Worker) gửi kết quả cũ lên sau một tiến trình mới, hệ thống sẽ từ chối ghi đè.</a:t>
            </a:r>
            <a:br/>
            <a:r>
              <a:t>• Đảm bảo tính nhất quán tuyệt đối cho cơ sở dữ liệu hạ tầng viễn thông.</a:t>
            </a:r>
          </a:p>
        </p:txBody>
      </p:sp>
      <p:sp>
        <p:nvSpPr>
          <p:cNvPr id="10" name="Rounded Rectangle 9"/>
          <p:cNvSpPr/>
          <p:nvPr/>
        </p:nvSpPr>
        <p:spPr>
          <a:xfrm>
            <a:off x="795528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KIỂM TRA TÍNH TOÀN VẸN (CHECKSUM AUDIT)</a:t>
            </a:r>
          </a:p>
          <a:p>
            <a:pPr>
              <a:spcBef>
                <a:spcPts val="400"/>
              </a:spcBef>
              <a:defRPr sz="1000" b="1">
                <a:solidFill>
                  <a:srgbClr val="64748B"/>
                </a:solidFill>
                <a:latin typeface="Arial"/>
              </a:defRPr>
            </a:pPr>
            <a:r>
              <a:t>scripts/dr_drill.py</a:t>
            </a:r>
          </a:p>
          <a:p>
            <a:pPr>
              <a:spcBef>
                <a:spcPts val="1200"/>
              </a:spcBef>
              <a:defRPr sz="1100">
                <a:solidFill>
                  <a:srgbClr val="0F172A"/>
                </a:solidFill>
                <a:latin typeface="Arial"/>
              </a:defRPr>
            </a:pPr>
            <a:r>
              <a:t>• Định kỳ tính toán mã băm SHA256 toàn bộ các bảng cấu hình trọng yếu.</a:t>
            </a:r>
            <a:br/>
            <a:r>
              <a:t>• Phát hiện ngay các hành vi chỉnh sửa cơ sở dữ liệu trái phép ngoài tầm kiểm soát của ứng dụng.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2: KIẾN TRÚC &amp; CÔNG NGHỆ</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MODULE SCORECARD &amp; DELIVERY INSIGHTS ĐO LƯỜNG TỰ ĐỘNG</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19 / 30</a:t>
            </a:r>
          </a:p>
        </p:txBody>
      </p:sp>
      <p:sp>
        <p:nvSpPr>
          <p:cNvPr id="8" name="Rounded Rectangle 7"/>
          <p:cNvSpPr/>
          <p:nvPr/>
        </p:nvSpPr>
        <p:spPr>
          <a:xfrm>
            <a:off x="73152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4 CHỈ SỐ DORA QUỐC TẾ</a:t>
            </a:r>
          </a:p>
          <a:p>
            <a:pPr>
              <a:spcBef>
                <a:spcPts val="400"/>
              </a:spcBef>
              <a:defRPr sz="1000" b="1">
                <a:solidFill>
                  <a:srgbClr val="64748B"/>
                </a:solidFill>
                <a:latin typeface="Arial"/>
              </a:defRPr>
            </a:pPr>
            <a:r>
              <a:t>Commit f5ec105 | backend/app/api/scorecards.py</a:t>
            </a:r>
          </a:p>
          <a:p>
            <a:pPr>
              <a:spcBef>
                <a:spcPts val="1200"/>
              </a:spcBef>
              <a:defRPr sz="1100">
                <a:solidFill>
                  <a:srgbClr val="0F172A"/>
                </a:solidFill>
                <a:latin typeface="Arial"/>
              </a:defRPr>
            </a:pPr>
            <a:r>
              <a:t>1. Deployment Frequency: Tần suất phát hành thành công vào sản xuất.</a:t>
            </a:r>
            <a:br/>
            <a:r>
              <a:t>2. Lead Time for Changes: Thời gian từ lúc commit git đến khi chạy ổn định trên môi trường.</a:t>
            </a:r>
            <a:br/>
            <a:r>
              <a:t>3. Change Failure Rate: Tỉ lệ phần trăm các lần phát hành gây lỗi cần rollback.</a:t>
            </a:r>
            <a:br/>
            <a:r>
              <a:t>4. Time to Restore Service (MTTR): Thời gian trung bình để khôi phục dịch vụ.</a:t>
            </a:r>
          </a:p>
        </p:txBody>
      </p:sp>
      <p:sp>
        <p:nvSpPr>
          <p:cNvPr id="9" name="Rounded Rectangle 8"/>
          <p:cNvSpPr/>
          <p:nvPr/>
        </p:nvSpPr>
        <p:spPr>
          <a:xfrm>
            <a:off x="434340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CHỈ SỐ CHẤT LƯỢNG &amp; AN NINH</a:t>
            </a:r>
          </a:p>
          <a:p>
            <a:pPr>
              <a:spcBef>
                <a:spcPts val="400"/>
              </a:spcBef>
              <a:defRPr sz="1000" b="1">
                <a:solidFill>
                  <a:srgbClr val="64748B"/>
                </a:solidFill>
                <a:latin typeface="Arial"/>
              </a:defRPr>
            </a:pPr>
            <a:r>
              <a:t>Đánh Giá Toàn Diện Từng Module</a:t>
            </a:r>
          </a:p>
          <a:p>
            <a:pPr>
              <a:spcBef>
                <a:spcPts val="1200"/>
              </a:spcBef>
              <a:defRPr sz="1100">
                <a:solidFill>
                  <a:srgbClr val="0F172A"/>
                </a:solidFill>
                <a:latin typeface="Arial"/>
              </a:defRPr>
            </a:pPr>
            <a:r>
              <a:t>• Tỉ lệ Pass Unit Test &amp; Coverage của các lần build gần nhất.</a:t>
            </a:r>
            <a:br/>
            <a:r>
              <a:t>• Điểm an ninh SBOM: Số lượng lỗ hổng Critical/High còn tồn tại.</a:t>
            </a:r>
            <a:br/>
            <a:r>
              <a:t>• Đánh giá mức độ tuân thủ quy chuẩn Delivery và tính sẵn sàng Production.</a:t>
            </a:r>
          </a:p>
        </p:txBody>
      </p:sp>
      <p:sp>
        <p:nvSpPr>
          <p:cNvPr id="10" name="Rounded Rectangle 9"/>
          <p:cNvSpPr/>
          <p:nvPr/>
        </p:nvSpPr>
        <p:spPr>
          <a:xfrm>
            <a:off x="7955280" y="1645920"/>
            <a:ext cx="347472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AI DELIVERY INSIGHTS</a:t>
            </a:r>
          </a:p>
          <a:p>
            <a:pPr>
              <a:spcBef>
                <a:spcPts val="400"/>
              </a:spcBef>
              <a:defRPr sz="1000" b="1">
                <a:solidFill>
                  <a:srgbClr val="64748B"/>
                </a:solidFill>
                <a:latin typeface="Arial"/>
              </a:defRPr>
            </a:pPr>
            <a:r>
              <a:t>Commit e3ca444 | Root Cause Explanation</a:t>
            </a:r>
          </a:p>
          <a:p>
            <a:pPr>
              <a:spcBef>
                <a:spcPts val="1200"/>
              </a:spcBef>
              <a:defRPr sz="1100">
                <a:solidFill>
                  <a:srgbClr val="0F172A"/>
                </a:solidFill>
                <a:latin typeface="Arial"/>
              </a:defRPr>
            </a:pPr>
            <a:r>
              <a:t>• Khi pipeline gặp sự cố, hệ thống tự động phân tích nhật ký lỗi.</a:t>
            </a:r>
            <a:br/>
            <a:r>
              <a:t>• Đưa ra gợi ý nguyên nhân gốc rễ (Root Cause) bằng ngôn ngữ tự nhiên ngay trên giao diện, giúp kỹ sư khắc phục nhanh mà không cần đọc hàng ngàn dòng log.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2011680"/>
            <a:ext cx="182880" cy="2743200"/>
          </a:xfrm>
          <a:prstGeom prst="rect">
            <a:avLst/>
          </a:prstGeom>
          <a:solidFill>
            <a:srgbClr val="EE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1828800"/>
            <a:ext cx="9144000" cy="457200"/>
          </a:xfrm>
          <a:prstGeom prst="rect">
            <a:avLst/>
          </a:prstGeom>
          <a:noFill/>
        </p:spPr>
        <p:txBody>
          <a:bodyPr wrap="none">
            <a:spAutoFit/>
          </a:bodyPr>
          <a:lstStyle/>
          <a:p>
            <a:pPr>
              <a:defRPr sz="1600" b="1">
                <a:solidFill>
                  <a:srgbClr val="EE0033"/>
                </a:solidFill>
                <a:latin typeface="Arial"/>
              </a:defRPr>
            </a:pPr>
            <a:r>
              <a:t>PHẦN 3</a:t>
            </a:r>
          </a:p>
        </p:txBody>
      </p:sp>
      <p:sp>
        <p:nvSpPr>
          <p:cNvPr id="5" name="TextBox 4"/>
          <p:cNvSpPr txBox="1"/>
          <p:nvPr/>
        </p:nvSpPr>
        <p:spPr>
          <a:xfrm>
            <a:off x="1554480" y="2286000"/>
            <a:ext cx="9601200" cy="1371600"/>
          </a:xfrm>
          <a:prstGeom prst="rect">
            <a:avLst/>
          </a:prstGeom>
          <a:noFill/>
        </p:spPr>
        <p:txBody>
          <a:bodyPr wrap="square">
            <a:spAutoFit/>
          </a:bodyPr>
          <a:lstStyle/>
          <a:p>
            <a:pPr>
              <a:defRPr sz="3600" b="1">
                <a:solidFill>
                  <a:srgbClr val="FFFFFF"/>
                </a:solidFill>
                <a:latin typeface="Arial"/>
              </a:defRPr>
            </a:pPr>
            <a:r>
              <a:t>TRIỂN KHAI THỰC NGHIỆM &amp; KẾT QUẢ</a:t>
            </a:r>
          </a:p>
        </p:txBody>
      </p:sp>
      <p:sp>
        <p:nvSpPr>
          <p:cNvPr id="6" name="TextBox 5"/>
          <p:cNvSpPr txBox="1"/>
          <p:nvPr/>
        </p:nvSpPr>
        <p:spPr>
          <a:xfrm>
            <a:off x="1554480" y="3840480"/>
            <a:ext cx="9144000" cy="731520"/>
          </a:xfrm>
          <a:prstGeom prst="rect">
            <a:avLst/>
          </a:prstGeom>
          <a:noFill/>
        </p:spPr>
        <p:txBody>
          <a:bodyPr wrap="square">
            <a:spAutoFit/>
          </a:bodyPr>
          <a:lstStyle/>
          <a:p>
            <a:pPr>
              <a:defRPr sz="1800">
                <a:solidFill>
                  <a:srgbClr val="CBD5E1"/>
                </a:solidFill>
                <a:latin typeface="Arial"/>
              </a:defRPr>
            </a:pPr>
            <a:r>
              <a:t>Kiểm chứng thực tế trên hệ thống lab VTNet: 5 Kịch bản vận hành thực chiến và số liệu đo lường</a:t>
            </a:r>
          </a:p>
        </p:txBody>
      </p:sp>
      <p:sp>
        <p:nvSpPr>
          <p:cNvPr id="7" name="TextBox 6"/>
          <p:cNvSpPr txBox="1"/>
          <p:nvPr/>
        </p:nvSpPr>
        <p:spPr>
          <a:xfrm>
            <a:off x="1554480" y="4937760"/>
            <a:ext cx="9144000" cy="731520"/>
          </a:xfrm>
          <a:prstGeom prst="rect">
            <a:avLst/>
          </a:prstGeom>
          <a:noFill/>
        </p:spPr>
        <p:txBody>
          <a:bodyPr wrap="none">
            <a:spAutoFit/>
          </a:bodyPr>
          <a:lstStyle/>
          <a:p>
            <a:pPr>
              <a:defRPr sz="1400" i="1">
                <a:solidFill>
                  <a:srgbClr val="64748B"/>
                </a:solidFill>
                <a:latin typeface="Arial"/>
              </a:defRPr>
            </a:pPr>
            <a:r>
              <a:t>« Thước đo duy nhất của kỹ thuật là kết quả vận hành thực tế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3: TRIỂN KHAI THỰC NGHIỆM</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THỰC NGHIỆM 1: TRẢI NGHIỆM DEVELOPER - SMART GIT PICKER &amp; DAG</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21 / 30</a:t>
            </a:r>
          </a:p>
        </p:txBody>
      </p:sp>
      <p:sp>
        <p:nvSpPr>
          <p:cNvPr id="8" name="Rounded Rectangle 7"/>
          <p:cNvSpPr/>
          <p:nvPr/>
        </p:nvSpPr>
        <p:spPr>
          <a:xfrm>
            <a:off x="731520" y="164592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1. CHỌN COMMIT THÔNG MINH (SMART GIT PICKER)</a:t>
            </a:r>
          </a:p>
          <a:p>
            <a:pPr>
              <a:spcBef>
                <a:spcPts val="400"/>
              </a:spcBef>
              <a:defRPr sz="1050">
                <a:solidFill>
                  <a:srgbClr val="0F172A"/>
                </a:solidFill>
                <a:latin typeface="Arial"/>
              </a:defRPr>
            </a:pPr>
            <a:r>
              <a:t>• Lập trình viên không cần nhập commit hash thủ công; hệ thống tự động kết nối Git, hiển thị danh sách branch/PR và thông điệp commit trực quan (Artifact: `audit_03_smart_git_picker.png`).</a:t>
            </a:r>
            <a:br/>
            <a:r>
              <a:t>• Tự động gợi ý môi trường đích phù hợp dựa trên quy tắc phân nhánh của hệ thống.</a:t>
            </a:r>
          </a:p>
        </p:txBody>
      </p:sp>
      <p:sp>
        <p:nvSpPr>
          <p:cNvPr id="9" name="Rounded Rectangle 8"/>
          <p:cNvSpPr/>
          <p:nvPr/>
        </p:nvSpPr>
        <p:spPr>
          <a:xfrm>
            <a:off x="731520" y="315468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2. THEO DÕI PIPELINE THỜI GIAN THỰC (REALTIME DAG)</a:t>
            </a:r>
          </a:p>
          <a:p>
            <a:pPr>
              <a:spcBef>
                <a:spcPts val="400"/>
              </a:spcBef>
              <a:defRPr sz="1050">
                <a:solidFill>
                  <a:srgbClr val="0F172A"/>
                </a:solidFill>
                <a:latin typeface="Arial"/>
              </a:defRPr>
            </a:pPr>
            <a:r>
              <a:t>• Đồ thị DAG hiển thị trực quan các công đoạn: Checkout $_x000D_ightarrow$ Test $_x000D_ightarrow$ Build $_x000D_ightarrow$ SBOM $_x000D_ightarrow$ Sign $_x000D_ightarrow$ Deploy (Artifact: `audit_04_pipeline_dag_realtime.png`).</a:t>
            </a:r>
            <a:br/>
            <a:r>
              <a:t>• Trạng thái từng node chuyển đổi mượt mà giữa Running $_x000D_ightarrow$ Passed $_x000D_ightarrow$ Failed với độ trễ phản hồi dưới 1 giây qua WebSocket.</a:t>
            </a:r>
          </a:p>
        </p:txBody>
      </p:sp>
      <p:sp>
        <p:nvSpPr>
          <p:cNvPr id="10" name="Rounded Rectangle 9"/>
          <p:cNvSpPr/>
          <p:nvPr/>
        </p:nvSpPr>
        <p:spPr>
          <a:xfrm>
            <a:off x="731520" y="466344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3. TỰ ĐỘNG THĂNG CẤP LÊN DEV MÔI TRƯỜNG</a:t>
            </a:r>
          </a:p>
          <a:p>
            <a:pPr>
              <a:spcBef>
                <a:spcPts val="400"/>
              </a:spcBef>
              <a:defRPr sz="1050">
                <a:solidFill>
                  <a:srgbClr val="0F172A"/>
                </a:solidFill>
                <a:latin typeface="Arial"/>
              </a:defRPr>
            </a:pPr>
            <a:r>
              <a:t>• Commit trên nhánh `main` tự động hoàn tất khâu ký số Cosign và triển khai lên môi trường Dev mà không cần can thiệp thủ công.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3: TRIỂN KHAI THỰC NGHIỆM</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THỰC NGHIỆM 2: PHÊ DUYỆT ĐỘC LẬP &amp; PRODUCTION CANARY ROLLBACK</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22 / 30</a:t>
            </a:r>
          </a:p>
        </p:txBody>
      </p:sp>
      <p:sp>
        <p:nvSpPr>
          <p:cNvPr id="8" name="Rounded Rectangle 7"/>
          <p:cNvSpPr/>
          <p:nvPr/>
        </p:nvSpPr>
        <p:spPr>
          <a:xfrm>
            <a:off x="731520" y="164592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1. TẠO PRODUCTION REQUEST VỚI PAT VÀ KẾ HOẠCH ROLLBACK</a:t>
            </a:r>
          </a:p>
          <a:p>
            <a:pPr>
              <a:spcBef>
                <a:spcPts val="400"/>
              </a:spcBef>
              <a:defRPr sz="1050">
                <a:solidFill>
                  <a:srgbClr val="0F172A"/>
                </a:solidFill>
                <a:latin typeface="Arial"/>
              </a:defRPr>
            </a:pPr>
            <a:r>
              <a:t>• Kỹ sư lập trình điền biểu mẫu yêu cầu: Chọn phiên bản đã qua kiểm thử, đính kèm kế hoạch PAT (Artifact: `audit_06_request_form_canary.png`).</a:t>
            </a:r>
            <a:br/>
            <a:r>
              <a:t>• Hệ thống kiểm tra điều kiện Soak Time trên Staging và chặn đứng việc tự duyệt (Nguyên tắc 4 mắt).</a:t>
            </a:r>
          </a:p>
        </p:txBody>
      </p:sp>
      <p:sp>
        <p:nvSpPr>
          <p:cNvPr id="9" name="Rounded Rectangle 8"/>
          <p:cNvSpPr/>
          <p:nvPr/>
        </p:nvSpPr>
        <p:spPr>
          <a:xfrm>
            <a:off x="731520" y="315468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2. PHÊ DUYỆT BỞI REVIEWER ĐỘC LẬP (4-EYES APPROVAL)</a:t>
            </a:r>
          </a:p>
          <a:p>
            <a:pPr>
              <a:spcBef>
                <a:spcPts val="400"/>
              </a:spcBef>
              <a:defRPr sz="1050">
                <a:solidFill>
                  <a:srgbClr val="0F172A"/>
                </a:solidFill>
                <a:latin typeface="Arial"/>
              </a:defRPr>
            </a:pPr>
            <a:r>
              <a:t>• Đăng nhập bằng tài khoản Reviewer/Trưởng nhóm: Kiểm tra hồ sơ kiểm thử, xác nhận không có lỗ hổng Critical và bấm Duyệt (Artifact: `audit_08_reviewer_request_list.png`).</a:t>
            </a:r>
            <a:br/>
            <a:r>
              <a:t>• Temporal Workflow khởi chạy chiến dịch phát hành Canary có kiểm soát lưu lượng.</a:t>
            </a:r>
          </a:p>
        </p:txBody>
      </p:sp>
      <p:sp>
        <p:nvSpPr>
          <p:cNvPr id="10" name="Rounded Rectangle 9"/>
          <p:cNvSpPr/>
          <p:nvPr/>
        </p:nvSpPr>
        <p:spPr>
          <a:xfrm>
            <a:off x="731520" y="466344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3. TIÊM LỖI HỒI QUY &amp; TỰ ĐỘNG ROLLBACK TRONG 12 GIÂY</a:t>
            </a:r>
          </a:p>
          <a:p>
            <a:pPr>
              <a:spcBef>
                <a:spcPts val="400"/>
              </a:spcBef>
              <a:defRPr sz="1050">
                <a:solidFill>
                  <a:srgbClr val="0F172A"/>
                </a:solidFill>
                <a:latin typeface="Arial"/>
              </a:defRPr>
            </a:pPr>
            <a:r>
              <a:t>• Thực nghiệm tiêm lỗi tăng tỉ lệ HTTP 500 $_x000D_ightarrow$ Phân tích Prometheus phát hiện bất thường ngay tại bước 10% lưu lượng.</a:t>
            </a:r>
            <a:br/>
            <a:r>
              <a:t>• netCI lập tức hủy bỏ phát hành và kích hoạt Rollback tự động về phiên bản trước; thời gian gián đoạn thực tế = 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3: TRIỂN KHAI THỰC NGHIỆM</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THỰC NGHIỆM 3: XÁC THỰC KÝ SỐ COSIGN &amp; TRA CỨU LIVE CVE</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23 / 30</a:t>
            </a:r>
          </a:p>
        </p:txBody>
      </p:sp>
      <p:sp>
        <p:nvSpPr>
          <p:cNvPr id="8" name="Rounded Rectangle 7"/>
          <p:cNvSpPr/>
          <p:nvPr/>
        </p:nvSpPr>
        <p:spPr>
          <a:xfrm>
            <a:off x="731520" y="1645920"/>
            <a:ext cx="107286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THỰC NGHIỆM CỐ TÌNH SỬA ĐỔI IMAGE TRÊN REGISTRY</a:t>
            </a:r>
          </a:p>
          <a:p>
            <a:pPr>
              <a:spcBef>
                <a:spcPts val="800"/>
              </a:spcBef>
              <a:defRPr sz="1100">
                <a:solidFill>
                  <a:srgbClr val="0F172A"/>
                </a:solidFill>
                <a:latin typeface="Arial"/>
              </a:defRPr>
            </a:pPr>
            <a:r>
              <a:t>• Mô phỏng kịch bản tấn công Man-in-the-Middle: Can thiệp và sửa đổi trái phép 1 byte dữ liệu của image đã lưu trên OCI Registry.</a:t>
            </a:r>
            <a:br/>
            <a:r>
              <a:t>• Kết quả: Khi kích hoạt Deploy, Worker của netCI thực hiện lệnh `cosign verify` và lập tức phát hiện chữ ký không khớp $_x000D_ightarrow$ Từ chối triển khai ngay tại chỗ (Fail-closed).</a:t>
            </a:r>
          </a:p>
        </p:txBody>
      </p:sp>
      <p:sp>
        <p:nvSpPr>
          <p:cNvPr id="9" name="Rounded Rectangle 8"/>
          <p:cNvSpPr/>
          <p:nvPr/>
        </p:nvSpPr>
        <p:spPr>
          <a:xfrm>
            <a:off x="731520" y="3931920"/>
            <a:ext cx="107286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TRA CỨU TRUY VẾT LỖ HỔNG CVE ZERO-DAY TRỰC TIẾP</a:t>
            </a:r>
          </a:p>
          <a:p>
            <a:pPr>
              <a:spcBef>
                <a:spcPts val="800"/>
              </a:spcBef>
              <a:defRPr sz="1100">
                <a:solidFill>
                  <a:srgbClr val="0F172A"/>
                </a:solidFill>
                <a:latin typeface="Arial"/>
              </a:defRPr>
            </a:pPr>
            <a:r>
              <a:t>• Thao tác trên giao diện Vulnerabilities: Nhập mã CVE thực nghiệm.</a:t>
            </a:r>
            <a:br/>
            <a:r>
              <a:t>• Kết quả: Trong 1.2 giây, hệ thống trả về bảng danh sách chi tiết: Server IP `10.120.45.12`, Namespace `dev`, Pod mang tên `hello-kubernetes` đang chạy bản build mang lỗ hổng, cho phép đội ứng cứu sự cố cô lập ngay lập tức.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3: TRIỂN KHAI THỰC NGHIỆM</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THỰC NGHIỆM 4: PREVIEW ENVIRONMENTS TRÊN CỤM KUBERNETES</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24 / 30</a:t>
            </a:r>
          </a:p>
        </p:txBody>
      </p:sp>
      <p:sp>
        <p:nvSpPr>
          <p:cNvPr id="8" name="Rounded Rectangle 7"/>
          <p:cNvSpPr/>
          <p:nvPr/>
        </p:nvSpPr>
        <p:spPr>
          <a:xfrm>
            <a:off x="731520" y="164592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1. TẠO PULL REQUEST TRÊN REPOSITORY</a:t>
            </a:r>
          </a:p>
          <a:p>
            <a:pPr>
              <a:spcBef>
                <a:spcPts val="400"/>
              </a:spcBef>
              <a:defRPr sz="1050">
                <a:solidFill>
                  <a:srgbClr val="0F172A"/>
                </a:solidFill>
                <a:latin typeface="Arial"/>
              </a:defRPr>
            </a:pPr>
            <a:r>
              <a:t>• Kỹ sư mở PR mới mang mã số PR-12 trên Git repository.</a:t>
            </a:r>
            <a:br/>
            <a:r>
              <a:t>• Pipeline nhận webhook, hoàn tất khâu kiểm thử và kích hoạt tác vụ triển khai Preview tự động.</a:t>
            </a:r>
          </a:p>
        </p:txBody>
      </p:sp>
      <p:sp>
        <p:nvSpPr>
          <p:cNvPr id="9" name="Rounded Rectangle 8"/>
          <p:cNvSpPr/>
          <p:nvPr/>
        </p:nvSpPr>
        <p:spPr>
          <a:xfrm>
            <a:off x="731520" y="315468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2. KHỞI TẠO NAMESPACE CÁCH LY THẬT TRÊN CỤM K8S</a:t>
            </a:r>
          </a:p>
          <a:p>
            <a:pPr>
              <a:spcBef>
                <a:spcPts val="400"/>
              </a:spcBef>
              <a:defRPr sz="1050">
                <a:solidFill>
                  <a:srgbClr val="0F172A"/>
                </a:solidFill>
                <a:latin typeface="Arial"/>
              </a:defRPr>
            </a:pPr>
            <a:r>
              <a:t>• Playbook `preview-kubernetes.yml` tạo namespace thực tế `preview-sample-app-pr-12` mang nhãn `netci.io/preview=true`.</a:t>
            </a:r>
            <a:br/>
            <a:r>
              <a:t>• Ingress NGINX tạo route nội bộ và cấp URL sống thực sự cho reviewer kiểm thử tính năng.</a:t>
            </a:r>
          </a:p>
        </p:txBody>
      </p:sp>
      <p:sp>
        <p:nvSpPr>
          <p:cNvPr id="10" name="Rounded Rectangle 9"/>
          <p:cNvSpPr/>
          <p:nvPr/>
        </p:nvSpPr>
        <p:spPr>
          <a:xfrm>
            <a:off x="731520" y="466344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3. TỰ ĐỘNG THU HỒI TOÀN BỘ KHI ĐÓNG PULL REQUEST</a:t>
            </a:r>
          </a:p>
          <a:p>
            <a:pPr>
              <a:spcBef>
                <a:spcPts val="400"/>
              </a:spcBef>
              <a:defRPr sz="1050">
                <a:solidFill>
                  <a:srgbClr val="0F172A"/>
                </a:solidFill>
                <a:latin typeface="Arial"/>
              </a:defRPr>
            </a:pPr>
            <a:r>
              <a:t>• Khi PR được Merge hoặc Close trên Git, netCI tự động ra lệnh xóa sạch toàn bộ namespace trong 8 giây.</a:t>
            </a:r>
            <a:br/>
            <a:r>
              <a:t>• Kiểm chứng: Lệnh `kubectl get ns` xác nhận namespace đã biến mất hoàn toàn, giải phóng 100% CPU/RAM.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3: TRIỂN KHAI THỰC NGHIỆM</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THỰC NGHIỆM 5: KHẢ NĂNG CHỊU LỖI &amp; DIỄN TẬP PHỤC HỒI (DR DRILL)</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25 / 30</a:t>
            </a:r>
          </a:p>
        </p:txBody>
      </p:sp>
      <p:sp>
        <p:nvSpPr>
          <p:cNvPr id="8" name="Rounded Rectangle 7"/>
          <p:cNvSpPr/>
          <p:nvPr/>
        </p:nvSpPr>
        <p:spPr>
          <a:xfrm>
            <a:off x="731520" y="1645920"/>
            <a:ext cx="107286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DIỄN TẬP CHỊU LỖI KHI 1 JENKINS CONTROLLER BỊ SẬP</a:t>
            </a:r>
          </a:p>
          <a:p>
            <a:pPr>
              <a:spcBef>
                <a:spcPts val="800"/>
              </a:spcBef>
              <a:defRPr sz="1100">
                <a:solidFill>
                  <a:srgbClr val="0F172A"/>
                </a:solidFill>
                <a:latin typeface="Arial"/>
              </a:defRPr>
            </a:pPr>
            <a:r>
              <a:t>• Đang chạy tải đồng thời 15 pipeline $_x000D_ightarrow$ Tiến hành ngắt kết nối mạng Controller A.</a:t>
            </a:r>
            <a:br/>
            <a:r>
              <a:t>• Kết quả: `JenkinsRouter` phát hiện lỗi kết nối sau 2 giây và lập tức chuyển toàn bộ các job còn lại sang Controller B.</a:t>
            </a:r>
            <a:br/>
            <a:r>
              <a:t>• Người dùng hoàn toàn không gặp lỗi gián đoạn pipeline (Seamless Failover).</a:t>
            </a:r>
          </a:p>
        </p:txBody>
      </p:sp>
      <p:sp>
        <p:nvSpPr>
          <p:cNvPr id="9" name="Rounded Rectangle 8"/>
          <p:cNvSpPr/>
          <p:nvPr/>
        </p:nvSpPr>
        <p:spPr>
          <a:xfrm>
            <a:off x="731520" y="3931920"/>
            <a:ext cx="107286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DIỄN TẬP PHỤC HỒI THẢM HỌA DỮ LIỆU (DISASTER RECOVERY)</a:t>
            </a:r>
          </a:p>
          <a:p>
            <a:pPr>
              <a:spcBef>
                <a:spcPts val="800"/>
              </a:spcBef>
              <a:defRPr sz="1100">
                <a:solidFill>
                  <a:srgbClr val="0F172A"/>
                </a:solidFill>
                <a:latin typeface="Arial"/>
              </a:defRPr>
            </a:pPr>
            <a:r>
              <a:t>• Thực thi kịch bản khôi phục cơ sở dữ liệu sau thảm họa qua script `scripts/dr_drill.py`.</a:t>
            </a:r>
            <a:br/>
            <a:r>
              <a:t>• Kết quả: Checksum băm SHA256 trên toàn bộ 32 bảng dữ liệu PostgreSQL trước và sau khi khôi phục khớp chính xác 100% $_x000D_ightarrow$ Bảo toàn dữ liệu tuyệt đối.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3: TRIỂN KHAI THỰC NGHIỆM</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TỔNG HỢP KẾT QUẢ ĐO LƯỜNG &amp; ĐỐI CHUẨN BENCHMARK THỰC TẾ</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26 / 30</a:t>
            </a:r>
          </a:p>
        </p:txBody>
      </p:sp>
      <p:sp>
        <p:nvSpPr>
          <p:cNvPr id="8" name="Rounded Rectangle 7"/>
          <p:cNvSpPr/>
          <p:nvPr/>
        </p:nvSpPr>
        <p:spPr>
          <a:xfrm>
            <a:off x="731520" y="1645920"/>
            <a:ext cx="10728655" cy="8229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0F172A"/>
                </a:solidFill>
                <a:latin typeface="Arial"/>
              </a:defRPr>
            </a:pPr>
            <a:r>
              <a:t>THỜI GIAN CLONE REPO LỚN  ➔  TRƯỚC: 180 Giây  |  SAU netCI: 12 Giây (Git Mirror)  ➔  KẾT QUẢ: GIẢM 93.3%</a:t>
            </a:r>
          </a:p>
          <a:p>
            <a:pPr>
              <a:spcBef>
                <a:spcPts val="200"/>
              </a:spcBef>
              <a:defRPr sz="950">
                <a:solidFill>
                  <a:srgbClr val="64748B"/>
                </a:solidFill>
                <a:latin typeface="Arial"/>
              </a:defRPr>
            </a:pPr>
            <a:r>
              <a:t>Minh chứng kiểm chứng: Đo đạc thực tế trên hạ tầng Lab VTNet với 60 bài kiểm thử tự động đạt 100% PASS.</a:t>
            </a:r>
          </a:p>
        </p:txBody>
      </p:sp>
      <p:sp>
        <p:nvSpPr>
          <p:cNvPr id="9" name="Rounded Rectangle 8"/>
          <p:cNvSpPr/>
          <p:nvPr/>
        </p:nvSpPr>
        <p:spPr>
          <a:xfrm>
            <a:off x="731520" y="2542032"/>
            <a:ext cx="10728655" cy="8229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0F172A"/>
                </a:solidFill>
                <a:latin typeface="Arial"/>
              </a:defRPr>
            </a:pPr>
            <a:r>
              <a:t>THỜI GIAN BUILD PIPELINE  ➔  TRƯỚC: 12 Phút  |  SAU netCI: 4.2 Phút (Layer Cache)  ➔  KẾT QUẢ: GIẢM 65.0%</a:t>
            </a:r>
          </a:p>
          <a:p>
            <a:pPr>
              <a:spcBef>
                <a:spcPts val="200"/>
              </a:spcBef>
              <a:defRPr sz="950">
                <a:solidFill>
                  <a:srgbClr val="64748B"/>
                </a:solidFill>
                <a:latin typeface="Arial"/>
              </a:defRPr>
            </a:pPr>
            <a:r>
              <a:t>Minh chứng kiểm chứng: Đo đạc thực tế trên hạ tầng Lab VTNet với 60 bài kiểm thử tự động đạt 100% PASS.</a:t>
            </a:r>
          </a:p>
        </p:txBody>
      </p:sp>
      <p:sp>
        <p:nvSpPr>
          <p:cNvPr id="10" name="Rounded Rectangle 9"/>
          <p:cNvSpPr/>
          <p:nvPr/>
        </p:nvSpPr>
        <p:spPr>
          <a:xfrm>
            <a:off x="731520" y="3438144"/>
            <a:ext cx="10728655" cy="8229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0F172A"/>
                </a:solidFill>
                <a:latin typeface="Arial"/>
              </a:defRPr>
            </a:pPr>
            <a:r>
              <a:t>TỈ LỆ LỖI PHÁT HÀNH PROD  ➔  TRƯỚC: ~18% (lệch cấu hình)  |  SAU netCI: 0% (Promotion &amp; Fencing)  ➔  KẾT QUẢ: TRIỆT TIÊU SAI SÓT</a:t>
            </a:r>
          </a:p>
          <a:p>
            <a:pPr>
              <a:spcBef>
                <a:spcPts val="200"/>
              </a:spcBef>
              <a:defRPr sz="950">
                <a:solidFill>
                  <a:srgbClr val="64748B"/>
                </a:solidFill>
                <a:latin typeface="Arial"/>
              </a:defRPr>
            </a:pPr>
            <a:r>
              <a:t>Minh chứng kiểm chứng: Đo đạc thực tế trên hạ tầng Lab VTNet với 60 bài kiểm thử tự động đạt 100% PASS.</a:t>
            </a:r>
          </a:p>
        </p:txBody>
      </p:sp>
      <p:sp>
        <p:nvSpPr>
          <p:cNvPr id="11" name="Rounded Rectangle 10"/>
          <p:cNvSpPr/>
          <p:nvPr/>
        </p:nvSpPr>
        <p:spPr>
          <a:xfrm>
            <a:off x="731520" y="4334256"/>
            <a:ext cx="10728655" cy="822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0F172A"/>
                </a:solidFill>
                <a:latin typeface="Arial"/>
              </a:defRPr>
            </a:pPr>
            <a:r>
              <a:t>THỜI GIAN ĐỊNH VỊ CVE  ➔  TRƯỚC: 3 - 5 Ngày (thủ công)  |  SAU netCI: &lt; 2 Giây (Live Exposure)  ➔  KẾT QUẢ: TĂNG TỐC 100.000 LẦN</a:t>
            </a:r>
          </a:p>
          <a:p>
            <a:pPr>
              <a:spcBef>
                <a:spcPts val="200"/>
              </a:spcBef>
              <a:defRPr sz="950">
                <a:solidFill>
                  <a:srgbClr val="64748B"/>
                </a:solidFill>
                <a:latin typeface="Arial"/>
              </a:defRPr>
            </a:pPr>
            <a:r>
              <a:t>Minh chứng kiểm chứng: Đo đạc thực tế trên hạ tầng Lab VTNet với 60 bài kiểm thử tự động đạt 100% PASS.</a:t>
            </a:r>
          </a:p>
        </p:txBody>
      </p:sp>
      <p:sp>
        <p:nvSpPr>
          <p:cNvPr id="12" name="Rounded Rectangle 11"/>
          <p:cNvSpPr/>
          <p:nvPr/>
        </p:nvSpPr>
        <p:spPr>
          <a:xfrm>
            <a:off x="731520" y="5230368"/>
            <a:ext cx="10728655" cy="8229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1100" b="1">
                <a:solidFill>
                  <a:srgbClr val="0F172A"/>
                </a:solidFill>
                <a:latin typeface="Arial"/>
              </a:defRPr>
            </a:pPr>
            <a:r>
              <a:t>TỈ LỆ 'XANH GIẢ' (FALSE GREEN)  ➔  TRƯỚC: Thường xuyên xuất hiện  |  SAU netCI: 0% (100% Fail-Closed)  ➔  KẾT QUẢ: ĐỘ TIN CẬY TUYỆT ĐỐI</a:t>
            </a:r>
          </a:p>
          <a:p>
            <a:pPr>
              <a:spcBef>
                <a:spcPts val="200"/>
              </a:spcBef>
              <a:defRPr sz="950">
                <a:solidFill>
                  <a:srgbClr val="64748B"/>
                </a:solidFill>
                <a:latin typeface="Arial"/>
              </a:defRPr>
            </a:pPr>
            <a:r>
              <a:t>Minh chứng kiểm chứng: Đo đạc thực tế trên hạ tầng Lab VTNet với 60 bài kiểm thử tự động đạt 100% PASS.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2011680"/>
            <a:ext cx="182880" cy="2743200"/>
          </a:xfrm>
          <a:prstGeom prst="rect">
            <a:avLst/>
          </a:prstGeom>
          <a:solidFill>
            <a:srgbClr val="EE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1828800"/>
            <a:ext cx="9144000" cy="457200"/>
          </a:xfrm>
          <a:prstGeom prst="rect">
            <a:avLst/>
          </a:prstGeom>
          <a:noFill/>
        </p:spPr>
        <p:txBody>
          <a:bodyPr wrap="none">
            <a:spAutoFit/>
          </a:bodyPr>
          <a:lstStyle/>
          <a:p>
            <a:pPr>
              <a:defRPr sz="1600" b="1">
                <a:solidFill>
                  <a:srgbClr val="EE0033"/>
                </a:solidFill>
                <a:latin typeface="Arial"/>
              </a:defRPr>
            </a:pPr>
            <a:r>
              <a:t>PHẦN 4</a:t>
            </a:r>
          </a:p>
        </p:txBody>
      </p:sp>
      <p:sp>
        <p:nvSpPr>
          <p:cNvPr id="5" name="TextBox 4"/>
          <p:cNvSpPr txBox="1"/>
          <p:nvPr/>
        </p:nvSpPr>
        <p:spPr>
          <a:xfrm>
            <a:off x="1554480" y="2286000"/>
            <a:ext cx="9601200" cy="1371600"/>
          </a:xfrm>
          <a:prstGeom prst="rect">
            <a:avLst/>
          </a:prstGeom>
          <a:noFill/>
        </p:spPr>
        <p:txBody>
          <a:bodyPr wrap="square">
            <a:spAutoFit/>
          </a:bodyPr>
          <a:lstStyle/>
          <a:p>
            <a:pPr>
              <a:defRPr sz="3600" b="1">
                <a:solidFill>
                  <a:srgbClr val="FFFFFF"/>
                </a:solidFill>
                <a:latin typeface="Arial"/>
              </a:defRPr>
            </a:pPr>
            <a:r>
              <a:t>KẾT LUẬN &amp; ĐÓNG GÓP CHO VIETTEL</a:t>
            </a:r>
          </a:p>
        </p:txBody>
      </p:sp>
      <p:sp>
        <p:nvSpPr>
          <p:cNvPr id="6" name="TextBox 5"/>
          <p:cNvSpPr txBox="1"/>
          <p:nvPr/>
        </p:nvSpPr>
        <p:spPr>
          <a:xfrm>
            <a:off x="1554480" y="3840480"/>
            <a:ext cx="9144000" cy="731520"/>
          </a:xfrm>
          <a:prstGeom prst="rect">
            <a:avLst/>
          </a:prstGeom>
          <a:noFill/>
        </p:spPr>
        <p:txBody>
          <a:bodyPr wrap="square">
            <a:spAutoFit/>
          </a:bodyPr>
          <a:lstStyle/>
          <a:p>
            <a:pPr>
              <a:defRPr sz="1800">
                <a:solidFill>
                  <a:srgbClr val="CBD5E1"/>
                </a:solidFill>
                <a:latin typeface="Arial"/>
              </a:defRPr>
            </a:pPr>
            <a:r>
              <a:t>Đánh giá giá trị thực tiễn, so sánh đối chuẩn quốc tế và lộ trình mở rộng quy mô</a:t>
            </a:r>
          </a:p>
        </p:txBody>
      </p:sp>
      <p:sp>
        <p:nvSpPr>
          <p:cNvPr id="7" name="TextBox 6"/>
          <p:cNvSpPr txBox="1"/>
          <p:nvPr/>
        </p:nvSpPr>
        <p:spPr>
          <a:xfrm>
            <a:off x="1554480" y="4937760"/>
            <a:ext cx="9144000" cy="731520"/>
          </a:xfrm>
          <a:prstGeom prst="rect">
            <a:avLst/>
          </a:prstGeom>
          <a:noFill/>
        </p:spPr>
        <p:txBody>
          <a:bodyPr wrap="none">
            <a:spAutoFit/>
          </a:bodyPr>
          <a:lstStyle/>
          <a:p>
            <a:pPr>
              <a:defRPr sz="1400" i="1">
                <a:solidFill>
                  <a:srgbClr val="64748B"/>
                </a:solidFill>
                <a:latin typeface="Arial"/>
              </a:defRPr>
            </a:pPr>
            <a:r>
              <a:t>« Giá trị của nghiên cứu là tạo ra sản phẩm phụng sự tổ chức và khách hàng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4: KẾT LUẬN &amp; ĐÁNH GIÁ</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ĐÓNG GÓP THỰC TIỄN CHO VTNET VÀ TẬP ĐOÀN VIETTEL</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28 / 30</a:t>
            </a:r>
          </a:p>
        </p:txBody>
      </p:sp>
      <p:sp>
        <p:nvSpPr>
          <p:cNvPr id="8" name="Rounded Rectangle 7"/>
          <p:cNvSpPr/>
          <p:nvPr/>
        </p:nvSpPr>
        <p:spPr>
          <a:xfrm>
            <a:off x="731520" y="164592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HIỆU QUẢ KINH TẾ &amp; TỰ CHỦ CÔNG NGHỆ</a:t>
            </a:r>
          </a:p>
          <a:p>
            <a:pPr>
              <a:spcBef>
                <a:spcPts val="400"/>
              </a:spcBef>
              <a:defRPr sz="1050">
                <a:solidFill>
                  <a:srgbClr val="0F172A"/>
                </a:solidFill>
                <a:latin typeface="Arial"/>
              </a:defRPr>
            </a:pPr>
            <a:r>
              <a:t>• Tiết kiệm hàng triệu USD chi phí mua bản quyền các nền tảng thương mại nước ngoài (GitLab Ultimate, Harness).</a:t>
            </a:r>
            <a:br/>
            <a:r>
              <a:t>• Tận dụng tối đa và tối ưu hóa hạ tầng phần cứng máy chủ và Jenkins hiện có của Viettel, tránh lãng phí đầu tư.</a:t>
            </a:r>
          </a:p>
        </p:txBody>
      </p:sp>
      <p:sp>
        <p:nvSpPr>
          <p:cNvPr id="9" name="Rounded Rectangle 8"/>
          <p:cNvSpPr/>
          <p:nvPr/>
        </p:nvSpPr>
        <p:spPr>
          <a:xfrm>
            <a:off x="731520" y="315468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AN NINH MẠNG MẠNG LƯỚI QUỐC GIA</a:t>
            </a:r>
          </a:p>
          <a:p>
            <a:pPr>
              <a:spcBef>
                <a:spcPts val="400"/>
              </a:spcBef>
              <a:defRPr sz="1050">
                <a:solidFill>
                  <a:srgbClr val="0F172A"/>
                </a:solidFill>
                <a:latin typeface="Arial"/>
              </a:defRPr>
            </a:pPr>
            <a:r>
              <a:t>• Làm chủ tuyệt đối chuỗi cung ứng phần mềm viễn thông theo chuẩn SLSA v1 quốc tế.</a:t>
            </a:r>
            <a:br/>
            <a:r>
              <a:t>• Khả năng phản ứng tức thì với các lỗ hổng Zero-day toàn cầu, bảo vệ an toàn thông tin mạng lưới viễn thông trọng yếu.</a:t>
            </a:r>
          </a:p>
        </p:txBody>
      </p:sp>
      <p:sp>
        <p:nvSpPr>
          <p:cNvPr id="10" name="Rounded Rectangle 9"/>
          <p:cNvSpPr/>
          <p:nvPr/>
        </p:nvSpPr>
        <p:spPr>
          <a:xfrm>
            <a:off x="731520" y="4663440"/>
            <a:ext cx="10728655"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EE0033"/>
                </a:solidFill>
                <a:latin typeface="Arial"/>
              </a:defRPr>
            </a:pPr>
            <a:r>
              <a:t>NÂNG CAO NĂNG SUẤT KỸ SƯ VIETTEL</a:t>
            </a:r>
          </a:p>
          <a:p>
            <a:pPr>
              <a:spcBef>
                <a:spcPts val="400"/>
              </a:spcBef>
              <a:defRPr sz="1050">
                <a:solidFill>
                  <a:srgbClr val="0F172A"/>
                </a:solidFill>
                <a:latin typeface="Arial"/>
              </a:defRPr>
            </a:pPr>
            <a:r>
              <a:t>• Chuẩn hóa quy trình Delivery tự động cho hàng trăm đội ngũ kỹ sư tại VTNet.</a:t>
            </a:r>
            <a:br/>
            <a:r>
              <a:t>• Thiết lập nền móng vững chắc để sẵn sàng đón nhận và kiểm soát làn sóng phát triển phần mềm bằng AI trong tương lai.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E0033"/>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74320"/>
          </a:xfrm>
          <a:prstGeom prst="rect">
            <a:avLst/>
          </a:prstGeom>
          <a:noFill/>
        </p:spPr>
        <p:txBody>
          <a:bodyPr wrap="none" lIns="0" rIns="0" tIns="0" bIns="0">
            <a:spAutoFit/>
          </a:bodyPr>
          <a:lstStyle/>
          <a:p>
            <a:pPr>
              <a:defRPr sz="1100" b="1">
                <a:solidFill>
                  <a:srgbClr val="EE0033"/>
                </a:solidFill>
                <a:latin typeface="Arial"/>
              </a:defRPr>
            </a:pPr>
            <a:r>
              <a:t>PHẦN 4: KẾT LUẬN &amp; ĐÁNH GIÁ</a:t>
            </a:r>
          </a:p>
        </p:txBody>
      </p:sp>
      <p:sp>
        <p:nvSpPr>
          <p:cNvPr id="5" name="TextBox 4"/>
          <p:cNvSpPr txBox="1"/>
          <p:nvPr/>
        </p:nvSpPr>
        <p:spPr>
          <a:xfrm>
            <a:off x="731520" y="384048"/>
            <a:ext cx="10515600" cy="548640"/>
          </a:xfrm>
          <a:prstGeom prst="rect">
            <a:avLst/>
          </a:prstGeom>
          <a:noFill/>
        </p:spPr>
        <p:txBody>
          <a:bodyPr wrap="none" lIns="0" rIns="0" tIns="0" bIns="0">
            <a:spAutoFit/>
          </a:bodyPr>
          <a:lstStyle/>
          <a:p>
            <a:pPr>
              <a:defRPr sz="2200" b="1">
                <a:solidFill>
                  <a:srgbClr val="FFFFFF"/>
                </a:solidFill>
                <a:latin typeface="Arial"/>
              </a:defRPr>
            </a:pPr>
            <a:r>
              <a:t>SO SÁNH ĐỐI CHUẨN GIẢI PHÁP &amp; LỘ TRÌNH PHÁT TRIỂN</a:t>
            </a:r>
          </a:p>
        </p:txBody>
      </p:sp>
      <p:sp>
        <p:nvSpPr>
          <p:cNvPr id="6" name="TextBox 5"/>
          <p:cNvSpPr txBox="1"/>
          <p:nvPr/>
        </p:nvSpPr>
        <p:spPr>
          <a:xfrm>
            <a:off x="731520" y="6492240"/>
            <a:ext cx="9144000" cy="274320"/>
          </a:xfrm>
          <a:prstGeom prst="rect">
            <a:avLst/>
          </a:prstGeom>
          <a:noFill/>
        </p:spPr>
        <p:txBody>
          <a:bodyPr wrap="none" lIns="0" rIns="0" tIns="0" bIns="0">
            <a:spAutoFit/>
          </a:bodyPr>
          <a:lstStyle/>
          <a:p>
            <a:pPr>
              <a:defRPr sz="1000">
                <a:solidFill>
                  <a:srgbClr val="64748B"/>
                </a:solidFill>
                <a:latin typeface="Arial"/>
              </a:defRPr>
            </a:pPr>
            <a:r>
              <a:t>Viettel Digital Talent 2026 | Báo Cáo Đề Tài netCI Platform - VTNet</a:t>
            </a:r>
          </a:p>
        </p:txBody>
      </p:sp>
      <p:sp>
        <p:nvSpPr>
          <p:cNvPr id="7" name="TextBox 6"/>
          <p:cNvSpPr txBox="1"/>
          <p:nvPr/>
        </p:nvSpPr>
        <p:spPr>
          <a:xfrm>
            <a:off x="10972800" y="6492240"/>
            <a:ext cx="731520" cy="274320"/>
          </a:xfrm>
          <a:prstGeom prst="rect">
            <a:avLst/>
          </a:prstGeom>
          <a:noFill/>
        </p:spPr>
        <p:txBody>
          <a:bodyPr wrap="none" lIns="0" rIns="0" tIns="0" bIns="0">
            <a:spAutoFit/>
          </a:bodyPr>
          <a:lstStyle/>
          <a:p>
            <a:pPr algn="r">
              <a:defRPr sz="1000" b="1">
                <a:solidFill>
                  <a:srgbClr val="64748B"/>
                </a:solidFill>
                <a:latin typeface="Arial"/>
              </a:defRPr>
            </a:pPr>
            <a:r>
              <a:t>29 / 30</a:t>
            </a:r>
          </a:p>
        </p:txBody>
      </p:sp>
      <p:sp>
        <p:nvSpPr>
          <p:cNvPr id="8" name="Rounded Rectangle 7"/>
          <p:cNvSpPr/>
          <p:nvPr/>
        </p:nvSpPr>
        <p:spPr>
          <a:xfrm>
            <a:off x="731520" y="1645920"/>
            <a:ext cx="107286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SO SÁNH VỚI CÁC GIẢI PHÁP QUỐC TẾ</a:t>
            </a:r>
          </a:p>
          <a:p>
            <a:pPr>
              <a:spcBef>
                <a:spcPts val="800"/>
              </a:spcBef>
              <a:defRPr sz="1100">
                <a:solidFill>
                  <a:srgbClr val="0F172A"/>
                </a:solidFill>
                <a:latin typeface="Arial"/>
              </a:defRPr>
            </a:pPr>
            <a:r>
              <a:t>• ArgoCD: Rất mạnh về Kubernetes nhưng hoàn toàn không hỗ trợ máy chủ vật lý Bare-metal/VM viễn thông.</a:t>
            </a:r>
            <a:br/>
            <a:r>
              <a:t>• GitLab Ultimate / Harness: Đắt đỏ, đóng gói hộp đen, khó tùy biến sâu vào hạ tầng nội bộ VTNet.</a:t>
            </a:r>
            <a:br/>
            <a:r>
              <a:t>• netCI: 'May đo' riêng cho Viettel: Hỗ trợ trọn vẹn cả Bare-metal lẫn K8s, tích hợp sẵn NetBox DCIM, chi phí bản quyền = 0.</a:t>
            </a:r>
          </a:p>
        </p:txBody>
      </p:sp>
      <p:sp>
        <p:nvSpPr>
          <p:cNvPr id="9" name="Rounded Rectangle 8"/>
          <p:cNvSpPr/>
          <p:nvPr/>
        </p:nvSpPr>
        <p:spPr>
          <a:xfrm>
            <a:off x="731520" y="3931920"/>
            <a:ext cx="107286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b="1">
                <a:solidFill>
                  <a:srgbClr val="EE0033"/>
                </a:solidFill>
                <a:latin typeface="Arial"/>
              </a:defRPr>
            </a:pPr>
            <a:r>
              <a:t>LỘ TRÌNH TRIỂN KHAI MỞ RỘNG (ROADMAP)</a:t>
            </a:r>
          </a:p>
          <a:p>
            <a:pPr>
              <a:spcBef>
                <a:spcPts val="800"/>
              </a:spcBef>
              <a:defRPr sz="1100">
                <a:solidFill>
                  <a:srgbClr val="0F172A"/>
                </a:solidFill>
                <a:latin typeface="Arial"/>
              </a:defRPr>
            </a:pPr>
            <a:r>
              <a:t>• Quý 4/2026: Triển khai thử nghiệm (Pilot) cho 5 hệ thống phần mềm nghiệp vụ trọng yếu tại VTNet.</a:t>
            </a:r>
            <a:br/>
            <a:r>
              <a:t>• Quý 1-2/2027: Chuẩn hóa bộ quy tắc Delivery và áp dụng rộng rãi cho toàn bộ các trung tâm kỹ thuật tại VTNet.</a:t>
            </a:r>
            <a:br/>
            <a:r>
              <a:t>• Cuối năm 2027: Mở rộng cung cấp dịch vụ Delivery Platform dùng chung cho toàn bộ các Tổng công ty thành viên Viettel.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EE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1828800"/>
          </a:xfrm>
          <a:prstGeom prst="rect">
            <a:avLst/>
          </a:prstGeom>
          <a:noFill/>
        </p:spPr>
        <p:txBody>
          <a:bodyPr wrap="none">
            <a:spAutoFit/>
          </a:bodyPr>
          <a:lstStyle/>
          <a:p>
            <a:pPr>
              <a:defRPr sz="3200" b="1">
                <a:solidFill>
                  <a:srgbClr val="FFFFFF"/>
                </a:solidFill>
                <a:latin typeface="Arial"/>
              </a:defRPr>
            </a:pPr>
            <a:r>
              <a:t>TRÂN TRỌNG CẢM ƠN BAN GIÁM ĐỐC &amp; HỘI ĐỒNG CHUYÊN MÔN!</a:t>
            </a:r>
          </a:p>
          <a:p>
            <a:pPr>
              <a:spcBef>
                <a:spcPts val="1000"/>
              </a:spcBef>
              <a:defRPr sz="1800">
                <a:solidFill>
                  <a:srgbClr val="E2E8F0"/>
                </a:solidFill>
                <a:latin typeface="Arial"/>
              </a:defRPr>
            </a:pPr>
            <a:r>
              <a:t>Xin chân thành cảm ơn sự hướng dẫn tận tình của hai Mentor: Anh Thế Anh Nguyễn và Anh Trung</a:t>
            </a:r>
          </a:p>
        </p:txBody>
      </p:sp>
      <p:sp>
        <p:nvSpPr>
          <p:cNvPr id="5" name="Rounded Rectangle 4"/>
          <p:cNvSpPr/>
          <p:nvPr/>
        </p:nvSpPr>
        <p:spPr>
          <a:xfrm>
            <a:off x="1097280" y="3840480"/>
            <a:ext cx="9966960" cy="2103120"/>
          </a:xfrm>
          <a:prstGeom prst="roundRect">
            <a:avLst/>
          </a:prstGeom>
          <a:solidFill>
            <a:srgbClr val="1E293B"/>
          </a:solidFill>
          <a:ln>
            <a:solidFill>
              <a:srgbClr val="EE0033"/>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bIns="182880"/>
          <a:lstStyle/>
          <a:p>
            <a:pPr algn="ctr">
              <a:defRPr sz="1800" b="1">
                <a:solidFill>
                  <a:srgbClr val="EE0033"/>
                </a:solidFill>
                <a:latin typeface="Arial"/>
              </a:defRPr>
            </a:pPr>
            <a:r>
              <a:t>PHIÊN HỎI - ĐÁP &amp; CHẤT VẤN (Q&amp;A)</a:t>
            </a:r>
          </a:p>
          <a:p>
            <a:pPr>
              <a:spcBef>
                <a:spcPts val="600"/>
              </a:spcBef>
              <a:defRPr sz="1200">
                <a:solidFill>
                  <a:srgbClr val="FFFFFF"/>
                </a:solidFill>
                <a:latin typeface="Arial"/>
              </a:defRPr>
            </a:pPr>
            <a:r>
              <a:t>Kính mong nhận được những câu hỏi và ý kiến đóng góp quý báu từ Ban Giám Đốc VTNet và Hội đồng!</a:t>
            </a:r>
            <a:br/>
            <a:br/>
            <a:r>
              <a:t>• Dự án mã nguồn mở nội bộ: netci-delivery-platform</a:t>
            </a:r>
            <a:br/>
            <a:r>
              <a:t>• Kiểm chứng: 32 Database Migrations | 12/12 Frontend Suites (60/60 Tests Passed) | 100% Fail-Closed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